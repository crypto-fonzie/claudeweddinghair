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Send as PDF. Keep this on screen while introductions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their pain, not our portfolio. Planners do not care how the hair looks — they care whether it makes them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the conversation on Early. Yours and Holds are bride-facing benefits; mention them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no-commission line is a differentiator. Say it out loud — most suppliers offer kickbacks and planners are wary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Trim this list to areas Noelle will genuinely travel to. An over-broad list reads as desperate.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all three placeholders before sending. Do not send this deck with empty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one specific thing: a place on the supplier list. Vague asks get vague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E19"/>
        </a:solidFill>
      </p:bgPr>
    </p:bg>
    <p:spTree>
      <p:nvGrpSpPr>
        <p:cNvPr id="1" name=""/>
        <p:cNvGrpSpPr/>
        <p:nvPr/>
      </p:nvGrpSpPr>
      <p:grpSpPr>
        <a:xfrm>
          <a:off x="0" y="0"/>
          <a:ext cx="0" cy="0"/>
          <a:chOff x="0" y="0"/>
          <a:chExt cx="0" cy="0"/>
        </a:xfrm>
      </p:grpSpPr>
      <p:pic>
        <p:nvPicPr>
          <p:cNvPr id="2" name="Image 0" descr="assets/pin-brass.png">    </p:cNvPr>
          <p:cNvPicPr>
            <a:picLocks noChangeAspect="1"/>
          </p:cNvPicPr>
          <p:nvPr/>
        </p:nvPicPr>
        <p:blipFill>
          <a:blip r:embed="rId1"/>
          <a:stretch>
            <a:fillRect/>
          </a:stretch>
        </p:blipFill>
        <p:spPr>
          <a:xfrm>
            <a:off x="777240" y="1371600"/>
            <a:ext cx="886054" cy="1737360"/>
          </a:xfrm>
          <a:prstGeom prst="rect">
            <a:avLst/>
          </a:prstGeom>
        </p:spPr>
      </p:pic>
      <p:sp>
        <p:nvSpPr>
          <p:cNvPr id="3" name="Text 0"/>
          <p:cNvSpPr/>
          <p:nvPr/>
        </p:nvSpPr>
        <p:spPr>
          <a:xfrm>
            <a:off x="777240" y="3246120"/>
            <a:ext cx="7315200" cy="777240"/>
          </a:xfrm>
          <a:prstGeom prst="rect">
            <a:avLst/>
          </a:prstGeom>
          <a:noFill/>
          <a:ln/>
        </p:spPr>
        <p:txBody>
          <a:bodyPr wrap="square" lIns="0" tIns="0" rIns="0" bIns="0" rtlCol="0" anchor="ctr"/>
          <a:lstStyle/>
          <a:p>
            <a:pPr indent="0" marL="0">
              <a:buNone/>
            </a:pPr>
            <a:r>
              <a:rPr lang="en-US" sz="5400" spc="1200" kern="0" dirty="0">
                <a:solidFill>
                  <a:srgbClr val="EFEDE7"/>
                </a:solidFill>
                <a:latin typeface="Instrument Serif" pitchFamily="34" charset="0"/>
                <a:ea typeface="Instrument Serif" pitchFamily="34" charset="-122"/>
                <a:cs typeface="Instrument Serif" pitchFamily="34" charset="-120"/>
              </a:rPr>
              <a:t>Polished</a:t>
            </a:r>
            <a:endParaRPr lang="en-US" sz="5400" dirty="0"/>
          </a:p>
        </p:txBody>
      </p:sp>
      <p:sp>
        <p:nvSpPr>
          <p:cNvPr id="4" name="Text 1"/>
          <p:cNvSpPr/>
          <p:nvPr/>
        </p:nvSpPr>
        <p:spPr>
          <a:xfrm>
            <a:off x="777240" y="4041648"/>
            <a:ext cx="7315200" cy="548640"/>
          </a:xfrm>
          <a:prstGeom prst="rect">
            <a:avLst/>
          </a:prstGeom>
          <a:noFill/>
          <a:ln/>
        </p:spPr>
        <p:txBody>
          <a:bodyPr wrap="square" lIns="0" tIns="0" rIns="0" bIns="0" rtlCol="0" anchor="ctr"/>
          <a:lstStyle/>
          <a:p>
            <a:pPr indent="0" marL="0">
              <a:buNone/>
            </a:pPr>
            <a:r>
              <a:rPr lang="en-US" sz="4000" i="1" dirty="0">
                <a:solidFill>
                  <a:srgbClr val="B98B4A"/>
                </a:solidFill>
                <a:latin typeface="Instrument Serif" pitchFamily="34" charset="0"/>
                <a:ea typeface="Instrument Serif" pitchFamily="34" charset="-122"/>
                <a:cs typeface="Instrument Serif" pitchFamily="34" charset="-120"/>
              </a:rPr>
              <a:t>&amp;</a:t>
            </a:r>
            <a:endParaRPr lang="en-US" sz="4000" dirty="0"/>
          </a:p>
        </p:txBody>
      </p:sp>
      <p:sp>
        <p:nvSpPr>
          <p:cNvPr id="5" name="Text 2"/>
          <p:cNvSpPr/>
          <p:nvPr/>
        </p:nvSpPr>
        <p:spPr>
          <a:xfrm>
            <a:off x="777240" y="4590288"/>
            <a:ext cx="7315200" cy="777240"/>
          </a:xfrm>
          <a:prstGeom prst="rect">
            <a:avLst/>
          </a:prstGeom>
          <a:noFill/>
          <a:ln/>
        </p:spPr>
        <p:txBody>
          <a:bodyPr wrap="square" lIns="0" tIns="0" rIns="0" bIns="0" rtlCol="0" anchor="ctr"/>
          <a:lstStyle/>
          <a:p>
            <a:pPr indent="0" marL="0">
              <a:buNone/>
            </a:pPr>
            <a:r>
              <a:rPr lang="en-US" sz="5400" spc="2400" kern="0" dirty="0">
                <a:solidFill>
                  <a:srgbClr val="EFEDE7"/>
                </a:solidFill>
                <a:latin typeface="Instrument Serif" pitchFamily="34" charset="0"/>
                <a:ea typeface="Instrument Serif" pitchFamily="34" charset="-122"/>
                <a:cs typeface="Instrument Serif" pitchFamily="34" charset="-120"/>
              </a:rPr>
              <a:t>Pinned</a:t>
            </a:r>
            <a:endParaRPr lang="en-US" sz="5400" dirty="0"/>
          </a:p>
        </p:txBody>
      </p:sp>
      <p:sp>
        <p:nvSpPr>
          <p:cNvPr id="6" name="Text 3"/>
          <p:cNvSpPr/>
          <p:nvPr/>
        </p:nvSpPr>
        <p:spPr>
          <a:xfrm>
            <a:off x="777240" y="5486400"/>
            <a:ext cx="7315200" cy="274320"/>
          </a:xfrm>
          <a:prstGeom prst="rect">
            <a:avLst/>
          </a:prstGeom>
          <a:noFill/>
          <a:ln/>
        </p:spPr>
        <p:txBody>
          <a:bodyPr wrap="square" lIns="0" tIns="0" rIns="0" bIns="0" rtlCol="0" anchor="ctr"/>
          <a:lstStyle/>
          <a:p>
            <a:pPr indent="0" marL="0">
              <a:buNone/>
            </a:pPr>
            <a:r>
              <a:rPr lang="en-US" sz="1100" spc="400" kern="0" dirty="0">
                <a:solidFill>
                  <a:srgbClr val="DEDAD1"/>
                </a:solidFill>
                <a:latin typeface="Karla" pitchFamily="34" charset="0"/>
                <a:ea typeface="Karla" pitchFamily="34" charset="-122"/>
                <a:cs typeface="Karla" pitchFamily="34" charset="-120"/>
              </a:rPr>
              <a:t>BRIDAL HAIR  ·  BY NOELLE</a:t>
            </a:r>
            <a:endParaRPr lang="en-US" sz="1100" dirty="0"/>
          </a:p>
        </p:txBody>
      </p:sp>
      <p:sp>
        <p:nvSpPr>
          <p:cNvPr id="7" name="Text 4"/>
          <p:cNvSpPr/>
          <p:nvPr/>
        </p:nvSpPr>
        <p:spPr>
          <a:xfrm>
            <a:off x="7178040" y="5486400"/>
            <a:ext cx="4206240" cy="274320"/>
          </a:xfrm>
          <a:prstGeom prst="rect">
            <a:avLst/>
          </a:prstGeom>
          <a:noFill/>
          <a:ln/>
        </p:spPr>
        <p:txBody>
          <a:bodyPr wrap="square" lIns="0" tIns="0" rIns="0" bIns="0" rtlCol="0" anchor="ctr"/>
          <a:lstStyle/>
          <a:p>
            <a:pPr algn="r" indent="0" marL="0">
              <a:buNone/>
            </a:pPr>
            <a:r>
              <a:rPr lang="en-US" sz="1500" i="1" dirty="0">
                <a:solidFill>
                  <a:srgbClr val="B98B4A"/>
                </a:solidFill>
                <a:latin typeface="Instrument Serif" pitchFamily="34" charset="0"/>
                <a:ea typeface="Instrument Serif" pitchFamily="34" charset="-122"/>
                <a:cs typeface="Instrument Serif" pitchFamily="34" charset="-120"/>
              </a:rPr>
              <a:t>Partnership · Venues &amp; Planners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WHY WE'RE WRITING</a:t>
            </a:r>
            <a:endParaRPr lang="en-US" sz="1000" dirty="0"/>
          </a:p>
        </p:txBody>
      </p:sp>
      <p:sp>
        <p:nvSpPr>
          <p:cNvPr id="3" name="Text 1"/>
          <p:cNvSpPr/>
          <p:nvPr/>
        </p:nvSpPr>
        <p:spPr>
          <a:xfrm>
            <a:off x="777240" y="1188720"/>
            <a:ext cx="7680960" cy="1051560"/>
          </a:xfrm>
          <a:prstGeom prst="rect">
            <a:avLst/>
          </a:prstGeom>
          <a:noFill/>
          <a:ln/>
        </p:spPr>
        <p:txBody>
          <a:bodyPr wrap="square" lIns="0" tIns="0" rIns="0" bIns="0" rtlCol="0" anchor="t"/>
          <a:lstStyle/>
          <a:p>
            <a:pPr algn="l" indent="0" marL="0">
              <a:buNone/>
            </a:pPr>
            <a:r>
              <a:rPr lang="en-US" sz="3600" dirty="0">
                <a:solidFill>
                  <a:srgbClr val="241E19"/>
                </a:solidFill>
                <a:latin typeface="Instrument Serif" pitchFamily="34" charset="0"/>
                <a:ea typeface="Instrument Serif" pitchFamily="34" charset="-122"/>
                <a:cs typeface="Instrument Serif" pitchFamily="34" charset="-120"/>
              </a:rPr>
              <a:t>You don't have a hair problem.</a:t>
            </a:r>
            <a:endParaRPr lang="en-US" sz="3600" dirty="0"/>
          </a:p>
          <a:p>
            <a:pPr algn="l" indent="0" marL="0">
              <a:buNone/>
            </a:pPr>
            <a:r>
              <a:rPr lang="en-US" sz="3600" dirty="0">
                <a:solidFill>
                  <a:srgbClr val="241E19"/>
                </a:solidFill>
                <a:latin typeface="Instrument Serif" pitchFamily="34" charset="0"/>
                <a:ea typeface="Instrument Serif" pitchFamily="34" charset="-122"/>
                <a:cs typeface="Instrument Serif" pitchFamily="34" charset="-120"/>
              </a:rPr>
              <a:t>You have a timeline problem.</a:t>
            </a:r>
            <a:endParaRPr lang="en-US" sz="3600" dirty="0"/>
          </a:p>
        </p:txBody>
      </p:sp>
      <p:sp>
        <p:nvSpPr>
          <p:cNvPr id="4" name="Text 2"/>
          <p:cNvSpPr/>
          <p:nvPr/>
        </p:nvSpPr>
        <p:spPr>
          <a:xfrm>
            <a:off x="777240" y="3063240"/>
            <a:ext cx="5943600" cy="1463040"/>
          </a:xfrm>
          <a:prstGeom prst="rect">
            <a:avLst/>
          </a:prstGeom>
          <a:noFill/>
          <a:ln/>
        </p:spPr>
        <p:txBody>
          <a:bodyPr wrap="square" lIns="0" tIns="0" rIns="0" bIns="0" rtlCol="0" anchor="ctr"/>
          <a:lstStyle/>
          <a:p>
            <a:pPr indent="0" marL="0">
              <a:lnSpc>
                <a:spcPts val="2200"/>
              </a:lnSpc>
              <a:buNone/>
            </a:pPr>
            <a:r>
              <a:rPr lang="en-US" sz="1400" dirty="0">
                <a:solidFill>
                  <a:srgbClr val="241E19"/>
                </a:solidFill>
                <a:latin typeface="Karla" pitchFamily="34" charset="0"/>
                <a:ea typeface="Karla" pitchFamily="34" charset="-122"/>
                <a:cs typeface="Karla" pitchFamily="34" charset="-120"/>
              </a:rPr>
              <a:t>Every planner and venue coordinator in the GTA has had the same morning. The hair runs long. Photographs get pushed. The ceremony starts late. And the person who has to manage the room, the client and the schedule is you — not the stylist who created it.</a:t>
            </a:r>
            <a:endParaRPr lang="en-US" sz="1400" dirty="0"/>
          </a:p>
        </p:txBody>
      </p:sp>
      <p:sp>
        <p:nvSpPr>
          <p:cNvPr id="5" name="Text 3"/>
          <p:cNvSpPr/>
          <p:nvPr/>
        </p:nvSpPr>
        <p:spPr>
          <a:xfrm>
            <a:off x="777240" y="4709160"/>
            <a:ext cx="5943600" cy="548640"/>
          </a:xfrm>
          <a:prstGeom prst="rect">
            <a:avLst/>
          </a:prstGeom>
          <a:noFill/>
          <a:ln/>
        </p:spPr>
        <p:txBody>
          <a:bodyPr wrap="square" lIns="0" tIns="0" rIns="0" bIns="0" rtlCol="0" anchor="ctr"/>
          <a:lstStyle/>
          <a:p>
            <a:pPr indent="0" marL="0">
              <a:buNone/>
            </a:pPr>
            <a:r>
              <a:rPr lang="en-US" sz="2200" i="1" dirty="0">
                <a:solidFill>
                  <a:srgbClr val="6E4A2C"/>
                </a:solidFill>
                <a:latin typeface="Instrument Serif" pitchFamily="34" charset="0"/>
                <a:ea typeface="Instrument Serif" pitchFamily="34" charset="-122"/>
                <a:cs typeface="Instrument Serif" pitchFamily="34" charset="-120"/>
              </a:rPr>
              <a:t>We built this business around that one problem.</a:t>
            </a:r>
            <a:endParaRPr lang="en-US" sz="2200" dirty="0"/>
          </a:p>
        </p:txBody>
      </p:sp>
      <p:sp>
        <p:nvSpPr>
          <p:cNvPr id="6" name="Shape 4"/>
          <p:cNvSpPr/>
          <p:nvPr/>
        </p:nvSpPr>
        <p:spPr>
          <a:xfrm>
            <a:off x="7589520" y="1234440"/>
            <a:ext cx="3794760" cy="4023360"/>
          </a:xfrm>
          <a:prstGeom prst="rect">
            <a:avLst/>
          </a:prstGeom>
          <a:solidFill>
            <a:srgbClr val="DEDAD1"/>
          </a:solidFill>
          <a:ln/>
        </p:spPr>
      </p:sp>
      <p:pic>
        <p:nvPicPr>
          <p:cNvPr id="7" name="Image 0" descr="assets/pin-tortoise.png">    </p:cNvPr>
          <p:cNvPicPr>
            <a:picLocks noChangeAspect="1"/>
          </p:cNvPicPr>
          <p:nvPr/>
        </p:nvPicPr>
        <p:blipFill>
          <a:blip r:embed="rId1"/>
          <a:stretch>
            <a:fillRect/>
          </a:stretch>
        </p:blipFill>
        <p:spPr>
          <a:xfrm>
            <a:off x="8001000" y="1691640"/>
            <a:ext cx="466344" cy="914400"/>
          </a:xfrm>
          <a:prstGeom prst="rect">
            <a:avLst/>
          </a:prstGeom>
        </p:spPr>
      </p:pic>
      <p:sp>
        <p:nvSpPr>
          <p:cNvPr id="8" name="Text 5"/>
          <p:cNvSpPr/>
          <p:nvPr/>
        </p:nvSpPr>
        <p:spPr>
          <a:xfrm>
            <a:off x="8001000" y="2834640"/>
            <a:ext cx="3017520" cy="1463040"/>
          </a:xfrm>
          <a:prstGeom prst="rect">
            <a:avLst/>
          </a:prstGeom>
          <a:noFill/>
          <a:ln/>
        </p:spPr>
        <p:txBody>
          <a:bodyPr wrap="square" lIns="0" tIns="0" rIns="0" bIns="0" rtlCol="0" anchor="ctr"/>
          <a:lstStyle/>
          <a:p>
            <a:pPr indent="0" marL="0">
              <a:lnSpc>
                <a:spcPts val="2600"/>
              </a:lnSpc>
              <a:buNone/>
            </a:pPr>
            <a:r>
              <a:rPr lang="en-US" sz="2000" dirty="0">
                <a:solidFill>
                  <a:srgbClr val="241E19"/>
                </a:solidFill>
                <a:latin typeface="Instrument Serif" pitchFamily="34" charset="0"/>
                <a:ea typeface="Instrument Serif" pitchFamily="34" charset="-122"/>
                <a:cs typeface="Instrument Serif" pitchFamily="34" charset="-120"/>
              </a:rPr>
              <a:t>The morning is the only part of a wedding day that has no slack in it.</a:t>
            </a:r>
            <a:endParaRPr lang="en-US" sz="2000" dirty="0"/>
          </a:p>
        </p:txBody>
      </p:sp>
      <p:sp>
        <p:nvSpPr>
          <p:cNvPr id="9" name="Text 6"/>
          <p:cNvSpPr/>
          <p:nvPr/>
        </p:nvSpPr>
        <p:spPr>
          <a:xfrm>
            <a:off x="8001000" y="4343400"/>
            <a:ext cx="3017520" cy="640080"/>
          </a:xfrm>
          <a:prstGeom prst="rect">
            <a:avLst/>
          </a:prstGeom>
          <a:noFill/>
          <a:ln/>
        </p:spPr>
        <p:txBody>
          <a:bodyPr wrap="square" lIns="0" tIns="0" rIns="0" bIns="0" rtlCol="0" anchor="ctr"/>
          <a:lstStyle/>
          <a:p>
            <a:pPr indent="0" marL="0">
              <a:buNone/>
            </a:pPr>
            <a:r>
              <a:rPr lang="en-US" sz="1200" dirty="0">
                <a:solidFill>
                  <a:srgbClr val="6E4A2C"/>
                </a:solidFill>
                <a:latin typeface="Karla" pitchFamily="34" charset="0"/>
                <a:ea typeface="Karla" pitchFamily="34" charset="-122"/>
                <a:cs typeface="Karla" pitchFamily="34" charset="-120"/>
              </a:rPr>
              <a:t>Everything after it inherits the delay.</a:t>
            </a:r>
            <a:endParaRPr lang="en-US" sz="1200" dirty="0"/>
          </a:p>
        </p:txBody>
      </p:sp>
      <p:sp>
        <p:nvSpPr>
          <p:cNvPr id="10" name="Text 7"/>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1" name="Text 8"/>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WHO WE ARE</a:t>
            </a:r>
            <a:endParaRPr lang="en-US" sz="1000" dirty="0"/>
          </a:p>
        </p:txBody>
      </p:sp>
      <p:sp>
        <p:nvSpPr>
          <p:cNvPr id="3" name="Text 1"/>
          <p:cNvSpPr/>
          <p:nvPr/>
        </p:nvSpPr>
        <p:spPr>
          <a:xfrm>
            <a:off x="777240" y="1188720"/>
            <a:ext cx="6583680" cy="1051560"/>
          </a:xfrm>
          <a:prstGeom prst="rect">
            <a:avLst/>
          </a:prstGeom>
          <a:noFill/>
          <a:ln/>
        </p:spPr>
        <p:txBody>
          <a:bodyPr wrap="square" lIns="0" tIns="0" rIns="0" bIns="0" rtlCol="0" anchor="t"/>
          <a:lstStyle/>
          <a:p>
            <a:pPr algn="l" indent="0" marL="0">
              <a:buNone/>
            </a:pPr>
            <a:r>
              <a:rPr lang="en-US" sz="3800" dirty="0">
                <a:solidFill>
                  <a:srgbClr val="241E19"/>
                </a:solidFill>
                <a:latin typeface="Instrument Serif" pitchFamily="34" charset="0"/>
                <a:ea typeface="Instrument Serif" pitchFamily="34" charset="-122"/>
                <a:cs typeface="Instrument Serif" pitchFamily="34" charset="-120"/>
              </a:rPr>
              <a:t>Hair only. On location. Across the GTA.</a:t>
            </a:r>
            <a:endParaRPr lang="en-US" sz="3800" dirty="0"/>
          </a:p>
        </p:txBody>
      </p:sp>
      <p:sp>
        <p:nvSpPr>
          <p:cNvPr id="4" name="Shape 2"/>
          <p:cNvSpPr/>
          <p:nvPr/>
        </p:nvSpPr>
        <p:spPr>
          <a:xfrm>
            <a:off x="6949440" y="1188720"/>
            <a:ext cx="4434840" cy="4023360"/>
          </a:xfrm>
          <a:prstGeom prst="rect">
            <a:avLst/>
          </a:prstGeom>
          <a:solidFill>
            <a:srgbClr val="DEDAD1"/>
          </a:solidFill>
          <a:ln w="9525">
            <a:solidFill>
              <a:srgbClr val="B98B4A"/>
            </a:solidFill>
            <a:prstDash val="dash"/>
          </a:ln>
        </p:spPr>
      </p:sp>
      <p:sp>
        <p:nvSpPr>
          <p:cNvPr id="5" name="Text 3"/>
          <p:cNvSpPr/>
          <p:nvPr/>
        </p:nvSpPr>
        <p:spPr>
          <a:xfrm>
            <a:off x="7114032" y="2880360"/>
            <a:ext cx="4105656" cy="640080"/>
          </a:xfrm>
          <a:prstGeom prst="rect">
            <a:avLst/>
          </a:prstGeom>
          <a:noFill/>
          <a:ln/>
        </p:spPr>
        <p:txBody>
          <a:bodyPr wrap="square" lIns="0" tIns="0" rIns="0" bIns="0" rtlCol="0" anchor="ctr"/>
          <a:lstStyle/>
          <a:p>
            <a:pPr algn="ctr" indent="0" marL="0">
              <a:buNone/>
            </a:pPr>
            <a:r>
              <a:rPr lang="en-US" sz="1000" dirty="0">
                <a:solidFill>
                  <a:srgbClr val="6E4A2C"/>
                </a:solidFill>
                <a:latin typeface="Karla" pitchFamily="34" charset="0"/>
                <a:ea typeface="Karla" pitchFamily="34" charset="-122"/>
                <a:cs typeface="Karla" pitchFamily="34" charset="-120"/>
              </a:rPr>
              <a:t>PHOTO: Noelle working — hands mid-pin, natural window light, portrait crop</a:t>
            </a:r>
            <a:endParaRPr lang="en-US" sz="1000" dirty="0"/>
          </a:p>
        </p:txBody>
      </p:sp>
      <p:sp>
        <p:nvSpPr>
          <p:cNvPr id="6" name="Text 4"/>
          <p:cNvSpPr/>
          <p:nvPr/>
        </p:nvSpPr>
        <p:spPr>
          <a:xfrm>
            <a:off x="777240" y="2697480"/>
            <a:ext cx="5760720" cy="320040"/>
          </a:xfrm>
          <a:prstGeom prst="rect">
            <a:avLst/>
          </a:prstGeom>
          <a:noFill/>
          <a:ln/>
        </p:spPr>
        <p:txBody>
          <a:bodyPr wrap="square" lIns="0" tIns="0" rIns="0" bIns="0" rtlCol="0" anchor="ctr"/>
          <a:lstStyle/>
          <a:p>
            <a:pPr indent="0" marL="0">
              <a:buNone/>
            </a:pPr>
            <a:r>
              <a:rPr lang="en-US" sz="2000" dirty="0">
                <a:solidFill>
                  <a:srgbClr val="6E4A2C"/>
                </a:solidFill>
                <a:latin typeface="Instrument Serif" pitchFamily="34" charset="0"/>
                <a:ea typeface="Instrument Serif" pitchFamily="34" charset="-122"/>
                <a:cs typeface="Instrument Serif" pitchFamily="34" charset="-120"/>
              </a:rPr>
              <a:t>Specialist, not a package</a:t>
            </a:r>
            <a:endParaRPr lang="en-US" sz="2000" dirty="0"/>
          </a:p>
        </p:txBody>
      </p:sp>
      <p:sp>
        <p:nvSpPr>
          <p:cNvPr id="7" name="Text 5"/>
          <p:cNvSpPr/>
          <p:nvPr/>
        </p:nvSpPr>
        <p:spPr>
          <a:xfrm>
            <a:off x="777240" y="3081528"/>
            <a:ext cx="5669280" cy="566928"/>
          </a:xfrm>
          <a:prstGeom prst="rect">
            <a:avLst/>
          </a:prstGeom>
          <a:noFill/>
          <a:ln/>
        </p:spPr>
        <p:txBody>
          <a:bodyPr wrap="square" lIns="0" tIns="0" rIns="0" bIns="0" rtlCol="0" anchor="ctr"/>
          <a:lstStyle/>
          <a:p>
            <a:pPr indent="0" marL="0">
              <a:lnSpc>
                <a:spcPts val="1800"/>
              </a:lnSpc>
              <a:buNone/>
            </a:pPr>
            <a:r>
              <a:rPr lang="en-US" sz="1250" dirty="0">
                <a:solidFill>
                  <a:srgbClr val="241E19"/>
                </a:solidFill>
                <a:latin typeface="Karla" pitchFamily="34" charset="0"/>
                <a:ea typeface="Karla" pitchFamily="34" charset="-122"/>
                <a:cs typeface="Karla" pitchFamily="34" charset="-120"/>
              </a:rPr>
              <a:t>We don't do makeup. One discipline, done properly — and a makeup partner we recommend by name.</a:t>
            </a:r>
            <a:endParaRPr lang="en-US" sz="1250" dirty="0"/>
          </a:p>
        </p:txBody>
      </p:sp>
      <p:sp>
        <p:nvSpPr>
          <p:cNvPr id="8" name="Text 6"/>
          <p:cNvSpPr/>
          <p:nvPr/>
        </p:nvSpPr>
        <p:spPr>
          <a:xfrm>
            <a:off x="777240" y="3749040"/>
            <a:ext cx="5760720" cy="320040"/>
          </a:xfrm>
          <a:prstGeom prst="rect">
            <a:avLst/>
          </a:prstGeom>
          <a:noFill/>
          <a:ln/>
        </p:spPr>
        <p:txBody>
          <a:bodyPr wrap="square" lIns="0" tIns="0" rIns="0" bIns="0" rtlCol="0" anchor="ctr"/>
          <a:lstStyle/>
          <a:p>
            <a:pPr indent="0" marL="0">
              <a:buNone/>
            </a:pPr>
            <a:r>
              <a:rPr lang="en-US" sz="2000" dirty="0">
                <a:solidFill>
                  <a:srgbClr val="6E4A2C"/>
                </a:solidFill>
                <a:latin typeface="Instrument Serif" pitchFamily="34" charset="0"/>
                <a:ea typeface="Instrument Serif" pitchFamily="34" charset="-122"/>
                <a:cs typeface="Instrument Serif" pitchFamily="34" charset="-120"/>
              </a:rPr>
              <a:t>Mobile</a:t>
            </a:r>
            <a:endParaRPr lang="en-US" sz="2000" dirty="0"/>
          </a:p>
        </p:txBody>
      </p:sp>
      <p:sp>
        <p:nvSpPr>
          <p:cNvPr id="9" name="Text 7"/>
          <p:cNvSpPr/>
          <p:nvPr/>
        </p:nvSpPr>
        <p:spPr>
          <a:xfrm>
            <a:off x="777240" y="4133088"/>
            <a:ext cx="5669280" cy="566928"/>
          </a:xfrm>
          <a:prstGeom prst="rect">
            <a:avLst/>
          </a:prstGeom>
          <a:noFill/>
          <a:ln/>
        </p:spPr>
        <p:txBody>
          <a:bodyPr wrap="square" lIns="0" tIns="0" rIns="0" bIns="0" rtlCol="0" anchor="ctr"/>
          <a:lstStyle/>
          <a:p>
            <a:pPr indent="0" marL="0">
              <a:lnSpc>
                <a:spcPts val="1800"/>
              </a:lnSpc>
              <a:buNone/>
            </a:pPr>
            <a:r>
              <a:rPr lang="en-US" sz="1250" dirty="0">
                <a:solidFill>
                  <a:srgbClr val="241E19"/>
                </a:solidFill>
                <a:latin typeface="Karla" pitchFamily="34" charset="0"/>
                <a:ea typeface="Karla" pitchFamily="34" charset="-122"/>
                <a:cs typeface="Karla" pitchFamily="34" charset="-120"/>
              </a:rPr>
              <a:t>We come to the suite, the house, the venue. No bride travels on her wedding morning.</a:t>
            </a:r>
            <a:endParaRPr lang="en-US" sz="1250" dirty="0"/>
          </a:p>
        </p:txBody>
      </p:sp>
      <p:sp>
        <p:nvSpPr>
          <p:cNvPr id="10" name="Text 8"/>
          <p:cNvSpPr/>
          <p:nvPr/>
        </p:nvSpPr>
        <p:spPr>
          <a:xfrm>
            <a:off x="777240" y="4800600"/>
            <a:ext cx="5760720" cy="320040"/>
          </a:xfrm>
          <a:prstGeom prst="rect">
            <a:avLst/>
          </a:prstGeom>
          <a:noFill/>
          <a:ln/>
        </p:spPr>
        <p:txBody>
          <a:bodyPr wrap="square" lIns="0" tIns="0" rIns="0" bIns="0" rtlCol="0" anchor="ctr"/>
          <a:lstStyle/>
          <a:p>
            <a:pPr indent="0" marL="0">
              <a:buNone/>
            </a:pPr>
            <a:r>
              <a:rPr lang="en-US" sz="2000" dirty="0">
                <a:solidFill>
                  <a:srgbClr val="6E4A2C"/>
                </a:solidFill>
                <a:latin typeface="Instrument Serif" pitchFamily="34" charset="0"/>
                <a:ea typeface="Instrument Serif" pitchFamily="34" charset="-122"/>
                <a:cs typeface="Instrument Serif" pitchFamily="34" charset="-120"/>
              </a:rPr>
              <a:t>One wedding a day</a:t>
            </a:r>
            <a:endParaRPr lang="en-US" sz="2000" dirty="0"/>
          </a:p>
        </p:txBody>
      </p:sp>
      <p:sp>
        <p:nvSpPr>
          <p:cNvPr id="11" name="Text 9"/>
          <p:cNvSpPr/>
          <p:nvPr/>
        </p:nvSpPr>
        <p:spPr>
          <a:xfrm>
            <a:off x="777240" y="5184648"/>
            <a:ext cx="5669280" cy="566928"/>
          </a:xfrm>
          <a:prstGeom prst="rect">
            <a:avLst/>
          </a:prstGeom>
          <a:noFill/>
          <a:ln/>
        </p:spPr>
        <p:txBody>
          <a:bodyPr wrap="square" lIns="0" tIns="0" rIns="0" bIns="0" rtlCol="0" anchor="ctr"/>
          <a:lstStyle/>
          <a:p>
            <a:pPr indent="0" marL="0">
              <a:lnSpc>
                <a:spcPts val="1800"/>
              </a:lnSpc>
              <a:buNone/>
            </a:pPr>
            <a:r>
              <a:rPr lang="en-US" sz="1250" dirty="0">
                <a:solidFill>
                  <a:srgbClr val="241E19"/>
                </a:solidFill>
                <a:latin typeface="Karla" pitchFamily="34" charset="0"/>
                <a:ea typeface="Karla" pitchFamily="34" charset="-122"/>
                <a:cs typeface="Karla" pitchFamily="34" charset="-120"/>
              </a:rPr>
              <a:t>Never two. The promise to arrive early doesn't survive a double booking.</a:t>
            </a:r>
            <a:endParaRPr lang="en-US" sz="1250" dirty="0"/>
          </a:p>
        </p:txBody>
      </p:sp>
      <p:sp>
        <p:nvSpPr>
          <p:cNvPr id="12" name="Text 10"/>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3" name="Text 11"/>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1E19"/>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B98B4A"/>
                </a:solidFill>
                <a:latin typeface="Karla" pitchFamily="34" charset="0"/>
                <a:ea typeface="Karla" pitchFamily="34" charset="-122"/>
                <a:cs typeface="Karla" pitchFamily="34" charset="-120"/>
              </a:rPr>
              <a:t>WHAT WE PROMISE</a:t>
            </a:r>
            <a:endParaRPr lang="en-US" sz="1000" dirty="0"/>
          </a:p>
        </p:txBody>
      </p:sp>
      <p:sp>
        <p:nvSpPr>
          <p:cNvPr id="3" name="Text 1"/>
          <p:cNvSpPr/>
          <p:nvPr/>
        </p:nvSpPr>
        <p:spPr>
          <a:xfrm>
            <a:off x="777240" y="1188720"/>
            <a:ext cx="7315200" cy="1051560"/>
          </a:xfrm>
          <a:prstGeom prst="rect">
            <a:avLst/>
          </a:prstGeom>
          <a:noFill/>
          <a:ln/>
        </p:spPr>
        <p:txBody>
          <a:bodyPr wrap="square" lIns="0" tIns="0" rIns="0" bIns="0" rtlCol="0" anchor="t"/>
          <a:lstStyle/>
          <a:p>
            <a:pPr algn="l" indent="0" marL="0">
              <a:buNone/>
            </a:pPr>
            <a:r>
              <a:rPr lang="en-US" sz="3800" dirty="0">
                <a:solidFill>
                  <a:srgbClr val="EFEDE7"/>
                </a:solidFill>
                <a:latin typeface="Instrument Serif" pitchFamily="34" charset="0"/>
                <a:ea typeface="Instrument Serif" pitchFamily="34" charset="-122"/>
                <a:cs typeface="Instrument Serif" pitchFamily="34" charset="-120"/>
              </a:rPr>
              <a:t>Three things, in this order.</a:t>
            </a:r>
            <a:endParaRPr lang="en-US" sz="3800" dirty="0"/>
          </a:p>
        </p:txBody>
      </p:sp>
      <p:sp>
        <p:nvSpPr>
          <p:cNvPr id="4" name="Shape 2"/>
          <p:cNvSpPr/>
          <p:nvPr/>
        </p:nvSpPr>
        <p:spPr>
          <a:xfrm>
            <a:off x="777240" y="2514600"/>
            <a:ext cx="3200400" cy="2788920"/>
          </a:xfrm>
          <a:prstGeom prst="rect">
            <a:avLst/>
          </a:prstGeom>
          <a:solidFill>
            <a:srgbClr val="2E2721"/>
          </a:solidFill>
          <a:ln/>
        </p:spPr>
      </p:sp>
      <p:sp>
        <p:nvSpPr>
          <p:cNvPr id="5" name="Text 3"/>
          <p:cNvSpPr/>
          <p:nvPr/>
        </p:nvSpPr>
        <p:spPr>
          <a:xfrm>
            <a:off x="1143000" y="2788920"/>
            <a:ext cx="2560320" cy="566928"/>
          </a:xfrm>
          <a:prstGeom prst="rect">
            <a:avLst/>
          </a:prstGeom>
          <a:noFill/>
          <a:ln/>
        </p:spPr>
        <p:txBody>
          <a:bodyPr wrap="square" lIns="0" tIns="0" rIns="0" bIns="0" rtlCol="0" anchor="ctr"/>
          <a:lstStyle/>
          <a:p>
            <a:pPr indent="0" marL="0">
              <a:buNone/>
            </a:pPr>
            <a:r>
              <a:rPr lang="en-US" sz="3400" dirty="0">
                <a:solidFill>
                  <a:srgbClr val="B98B4A"/>
                </a:solidFill>
                <a:latin typeface="Instrument Serif" pitchFamily="34" charset="0"/>
                <a:ea typeface="Instrument Serif" pitchFamily="34" charset="-122"/>
                <a:cs typeface="Instrument Serif" pitchFamily="34" charset="-120"/>
              </a:rPr>
              <a:t>Early</a:t>
            </a:r>
            <a:endParaRPr lang="en-US" sz="3400" dirty="0"/>
          </a:p>
        </p:txBody>
      </p:sp>
      <p:sp>
        <p:nvSpPr>
          <p:cNvPr id="6" name="Text 4"/>
          <p:cNvSpPr/>
          <p:nvPr/>
        </p:nvSpPr>
        <p:spPr>
          <a:xfrm>
            <a:off x="1143000" y="3520440"/>
            <a:ext cx="2514600" cy="1600200"/>
          </a:xfrm>
          <a:prstGeom prst="rect">
            <a:avLst/>
          </a:prstGeom>
          <a:noFill/>
          <a:ln/>
        </p:spPr>
        <p:txBody>
          <a:bodyPr wrap="square" lIns="0" tIns="0" rIns="0" bIns="0" rtlCol="0" anchor="ctr"/>
          <a:lstStyle/>
          <a:p>
            <a:pPr indent="0" marL="0">
              <a:lnSpc>
                <a:spcPts val="1800"/>
              </a:lnSpc>
              <a:buNone/>
            </a:pPr>
            <a:r>
              <a:rPr lang="en-US" sz="1200" dirty="0">
                <a:solidFill>
                  <a:srgbClr val="DEDAD1"/>
                </a:solidFill>
                <a:latin typeface="Karla" pitchFamily="34" charset="0"/>
                <a:ea typeface="Karla" pitchFamily="34" charset="-122"/>
                <a:cs typeface="Karla" pitchFamily="34" charset="-120"/>
              </a:rPr>
              <a:t>Arrival ahead of call time, every wedding. The hair timeline is written and shared with you weeks in advance — not decided in the room.</a:t>
            </a:r>
            <a:endParaRPr lang="en-US" sz="1200" dirty="0"/>
          </a:p>
        </p:txBody>
      </p:sp>
      <p:sp>
        <p:nvSpPr>
          <p:cNvPr id="7" name="Shape 5"/>
          <p:cNvSpPr/>
          <p:nvPr/>
        </p:nvSpPr>
        <p:spPr>
          <a:xfrm>
            <a:off x="4315968" y="2514600"/>
            <a:ext cx="3200400" cy="2788920"/>
          </a:xfrm>
          <a:prstGeom prst="rect">
            <a:avLst/>
          </a:prstGeom>
          <a:solidFill>
            <a:srgbClr val="2E2721"/>
          </a:solidFill>
          <a:ln/>
        </p:spPr>
      </p:sp>
      <p:sp>
        <p:nvSpPr>
          <p:cNvPr id="8" name="Text 6"/>
          <p:cNvSpPr/>
          <p:nvPr/>
        </p:nvSpPr>
        <p:spPr>
          <a:xfrm>
            <a:off x="4681728" y="2788920"/>
            <a:ext cx="2560320" cy="566928"/>
          </a:xfrm>
          <a:prstGeom prst="rect">
            <a:avLst/>
          </a:prstGeom>
          <a:noFill/>
          <a:ln/>
        </p:spPr>
        <p:txBody>
          <a:bodyPr wrap="square" lIns="0" tIns="0" rIns="0" bIns="0" rtlCol="0" anchor="ctr"/>
          <a:lstStyle/>
          <a:p>
            <a:pPr indent="0" marL="0">
              <a:buNone/>
            </a:pPr>
            <a:r>
              <a:rPr lang="en-US" sz="3400" dirty="0">
                <a:solidFill>
                  <a:srgbClr val="B98B4A"/>
                </a:solidFill>
                <a:latin typeface="Instrument Serif" pitchFamily="34" charset="0"/>
                <a:ea typeface="Instrument Serif" pitchFamily="34" charset="-122"/>
                <a:cs typeface="Instrument Serif" pitchFamily="34" charset="-120"/>
              </a:rPr>
              <a:t>Yours</a:t>
            </a:r>
            <a:endParaRPr lang="en-US" sz="3400" dirty="0"/>
          </a:p>
        </p:txBody>
      </p:sp>
      <p:sp>
        <p:nvSpPr>
          <p:cNvPr id="9" name="Text 7"/>
          <p:cNvSpPr/>
          <p:nvPr/>
        </p:nvSpPr>
        <p:spPr>
          <a:xfrm>
            <a:off x="4681728" y="3520440"/>
            <a:ext cx="2514600" cy="1600200"/>
          </a:xfrm>
          <a:prstGeom prst="rect">
            <a:avLst/>
          </a:prstGeom>
          <a:noFill/>
          <a:ln/>
        </p:spPr>
        <p:txBody>
          <a:bodyPr wrap="square" lIns="0" tIns="0" rIns="0" bIns="0" rtlCol="0" anchor="ctr"/>
          <a:lstStyle/>
          <a:p>
            <a:pPr indent="0" marL="0">
              <a:lnSpc>
                <a:spcPts val="1800"/>
              </a:lnSpc>
              <a:buNone/>
            </a:pPr>
            <a:r>
              <a:rPr lang="en-US" sz="1200" dirty="0">
                <a:solidFill>
                  <a:srgbClr val="DEDAD1"/>
                </a:solidFill>
                <a:latin typeface="Karla" pitchFamily="34" charset="0"/>
                <a:ea typeface="Karla" pitchFamily="34" charset="-122"/>
                <a:cs typeface="Karla" pitchFamily="34" charset="-120"/>
              </a:rPr>
              <a:t>The bride still looks like herself. No surprises in the mirror, no renegotiation at 8am while you're waiting.</a:t>
            </a:r>
            <a:endParaRPr lang="en-US" sz="1200" dirty="0"/>
          </a:p>
        </p:txBody>
      </p:sp>
      <p:sp>
        <p:nvSpPr>
          <p:cNvPr id="10" name="Shape 8"/>
          <p:cNvSpPr/>
          <p:nvPr/>
        </p:nvSpPr>
        <p:spPr>
          <a:xfrm>
            <a:off x="7854696" y="2514600"/>
            <a:ext cx="3200400" cy="2788920"/>
          </a:xfrm>
          <a:prstGeom prst="rect">
            <a:avLst/>
          </a:prstGeom>
          <a:solidFill>
            <a:srgbClr val="2E2721"/>
          </a:solidFill>
          <a:ln/>
        </p:spPr>
      </p:sp>
      <p:sp>
        <p:nvSpPr>
          <p:cNvPr id="11" name="Text 9"/>
          <p:cNvSpPr/>
          <p:nvPr/>
        </p:nvSpPr>
        <p:spPr>
          <a:xfrm>
            <a:off x="8220456" y="2788920"/>
            <a:ext cx="2560320" cy="566928"/>
          </a:xfrm>
          <a:prstGeom prst="rect">
            <a:avLst/>
          </a:prstGeom>
          <a:noFill/>
          <a:ln/>
        </p:spPr>
        <p:txBody>
          <a:bodyPr wrap="square" lIns="0" tIns="0" rIns="0" bIns="0" rtlCol="0" anchor="ctr"/>
          <a:lstStyle/>
          <a:p>
            <a:pPr indent="0" marL="0">
              <a:buNone/>
            </a:pPr>
            <a:r>
              <a:rPr lang="en-US" sz="3400" dirty="0">
                <a:solidFill>
                  <a:srgbClr val="B98B4A"/>
                </a:solidFill>
                <a:latin typeface="Instrument Serif" pitchFamily="34" charset="0"/>
                <a:ea typeface="Instrument Serif" pitchFamily="34" charset="-122"/>
                <a:cs typeface="Instrument Serif" pitchFamily="34" charset="-120"/>
              </a:rPr>
              <a:t>Holds</a:t>
            </a:r>
            <a:endParaRPr lang="en-US" sz="3400" dirty="0"/>
          </a:p>
        </p:txBody>
      </p:sp>
      <p:sp>
        <p:nvSpPr>
          <p:cNvPr id="12" name="Text 10"/>
          <p:cNvSpPr/>
          <p:nvPr/>
        </p:nvSpPr>
        <p:spPr>
          <a:xfrm>
            <a:off x="8220456" y="3520440"/>
            <a:ext cx="2514600" cy="1600200"/>
          </a:xfrm>
          <a:prstGeom prst="rect">
            <a:avLst/>
          </a:prstGeom>
          <a:noFill/>
          <a:ln/>
        </p:spPr>
        <p:txBody>
          <a:bodyPr wrap="square" lIns="0" tIns="0" rIns="0" bIns="0" rtlCol="0" anchor="ctr"/>
          <a:lstStyle/>
          <a:p>
            <a:pPr indent="0" marL="0">
              <a:lnSpc>
                <a:spcPts val="1800"/>
              </a:lnSpc>
              <a:buNone/>
            </a:pPr>
            <a:r>
              <a:rPr lang="en-US" sz="1200" dirty="0">
                <a:solidFill>
                  <a:srgbClr val="DEDAD1"/>
                </a:solidFill>
                <a:latin typeface="Karla" pitchFamily="34" charset="0"/>
                <a:ea typeface="Karla" pitchFamily="34" charset="-122"/>
                <a:cs typeface="Karla" pitchFamily="34" charset="-120"/>
              </a:rPr>
              <a:t>Built for a fourteen-hour day. No repairs needed between the ceremony and the first dance.</a:t>
            </a:r>
            <a:endParaRPr lang="en-US" sz="1200" dirty="0"/>
          </a:p>
        </p:txBody>
      </p:sp>
      <p:sp>
        <p:nvSpPr>
          <p:cNvPr id="13" name="Text 11"/>
          <p:cNvSpPr/>
          <p:nvPr/>
        </p:nvSpPr>
        <p:spPr>
          <a:xfrm>
            <a:off x="777240" y="5669280"/>
            <a:ext cx="9144000" cy="365760"/>
          </a:xfrm>
          <a:prstGeom prst="rect">
            <a:avLst/>
          </a:prstGeom>
          <a:noFill/>
          <a:ln/>
        </p:spPr>
        <p:txBody>
          <a:bodyPr wrap="square" lIns="0" tIns="0" rIns="0" bIns="0" rtlCol="0" anchor="ctr"/>
          <a:lstStyle/>
          <a:p>
            <a:pPr indent="0" marL="0">
              <a:buNone/>
            </a:pPr>
            <a:r>
              <a:rPr lang="en-US" sz="1700" i="1" dirty="0">
                <a:solidFill>
                  <a:srgbClr val="EFEDE7"/>
                </a:solidFill>
                <a:latin typeface="Instrument Serif" pitchFamily="34" charset="0"/>
                <a:ea typeface="Instrument Serif" pitchFamily="34" charset="-122"/>
                <a:cs typeface="Instrument Serif" pitchFamily="34" charset="-120"/>
              </a:rPr>
              <a:t>Early is the one that matters to you. The other two are why the bride booked us.</a:t>
            </a:r>
            <a:endParaRPr lang="en-US" sz="1700" dirty="0"/>
          </a:p>
        </p:txBody>
      </p:sp>
      <p:sp>
        <p:nvSpPr>
          <p:cNvPr id="14" name="Text 12"/>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5" name="Text 13"/>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HOW A MORNING RUNS</a:t>
            </a:r>
            <a:endParaRPr lang="en-US" sz="1000" dirty="0"/>
          </a:p>
        </p:txBody>
      </p:sp>
      <p:sp>
        <p:nvSpPr>
          <p:cNvPr id="3" name="Text 1"/>
          <p:cNvSpPr/>
          <p:nvPr/>
        </p:nvSpPr>
        <p:spPr>
          <a:xfrm>
            <a:off x="777240" y="1188720"/>
            <a:ext cx="8229600" cy="1051560"/>
          </a:xfrm>
          <a:prstGeom prst="rect">
            <a:avLst/>
          </a:prstGeom>
          <a:noFill/>
          <a:ln/>
        </p:spPr>
        <p:txBody>
          <a:bodyPr wrap="square" lIns="0" tIns="0" rIns="0" bIns="0" rtlCol="0" anchor="t"/>
          <a:lstStyle/>
          <a:p>
            <a:pPr algn="l" indent="0" marL="0">
              <a:buNone/>
            </a:pPr>
            <a:r>
              <a:rPr lang="en-US" sz="3800" dirty="0">
                <a:solidFill>
                  <a:srgbClr val="241E19"/>
                </a:solidFill>
                <a:latin typeface="Instrument Serif" pitchFamily="34" charset="0"/>
                <a:ea typeface="Instrument Serif" pitchFamily="34" charset="-122"/>
                <a:cs typeface="Instrument Serif" pitchFamily="34" charset="-120"/>
              </a:rPr>
              <a:t>You get the schedule before we do.</a:t>
            </a:r>
            <a:endParaRPr lang="en-US" sz="3800" dirty="0"/>
          </a:p>
        </p:txBody>
      </p:sp>
      <p:sp>
        <p:nvSpPr>
          <p:cNvPr id="4" name="Text 2"/>
          <p:cNvSpPr/>
          <p:nvPr/>
        </p:nvSpPr>
        <p:spPr>
          <a:xfrm>
            <a:off x="777240" y="2414016"/>
            <a:ext cx="1691640" cy="274320"/>
          </a:xfrm>
          <a:prstGeom prst="rect">
            <a:avLst/>
          </a:prstGeom>
          <a:noFill/>
          <a:ln/>
        </p:spPr>
        <p:txBody>
          <a:bodyPr wrap="square" lIns="0" tIns="0" rIns="0" bIns="0" rtlCol="0" anchor="ctr"/>
          <a:lstStyle/>
          <a:p>
            <a:pPr indent="0" marL="0">
              <a:buNone/>
            </a:pPr>
            <a:r>
              <a:rPr lang="en-US" sz="950" b="1" spc="200" kern="0" dirty="0">
                <a:solidFill>
                  <a:srgbClr val="B98B4A"/>
                </a:solidFill>
                <a:latin typeface="Karla" pitchFamily="34" charset="0"/>
                <a:ea typeface="Karla" pitchFamily="34" charset="-122"/>
                <a:cs typeface="Karla" pitchFamily="34" charset="-120"/>
              </a:rPr>
              <a:t>6 WEEKS OUT</a:t>
            </a:r>
            <a:endParaRPr lang="en-US" sz="950" dirty="0"/>
          </a:p>
        </p:txBody>
      </p:sp>
      <p:sp>
        <p:nvSpPr>
          <p:cNvPr id="5" name="Text 3"/>
          <p:cNvSpPr/>
          <p:nvPr/>
        </p:nvSpPr>
        <p:spPr>
          <a:xfrm>
            <a:off x="2606040" y="2340864"/>
            <a:ext cx="2103120" cy="329184"/>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Timeline built</a:t>
            </a:r>
            <a:endParaRPr lang="en-US" sz="1900" dirty="0"/>
          </a:p>
        </p:txBody>
      </p:sp>
      <p:sp>
        <p:nvSpPr>
          <p:cNvPr id="6" name="Text 4"/>
          <p:cNvSpPr/>
          <p:nvPr/>
        </p:nvSpPr>
        <p:spPr>
          <a:xfrm>
            <a:off x="4754880" y="2377440"/>
            <a:ext cx="6400800" cy="566928"/>
          </a:xfrm>
          <a:prstGeom prst="rect">
            <a:avLst/>
          </a:prstGeom>
          <a:noFill/>
          <a:ln/>
        </p:spPr>
        <p:txBody>
          <a:bodyPr wrap="square" lIns="0" tIns="0" rIns="0" bIns="0" rtlCol="0" anchor="ctr"/>
          <a:lstStyle/>
          <a:p>
            <a:pPr indent="0" marL="0">
              <a:lnSpc>
                <a:spcPts val="1600"/>
              </a:lnSpc>
              <a:buNone/>
            </a:pPr>
            <a:r>
              <a:rPr lang="en-US" sz="1150" dirty="0">
                <a:solidFill>
                  <a:srgbClr val="241E19"/>
                </a:solidFill>
                <a:latin typeface="Karla" pitchFamily="34" charset="0"/>
                <a:ea typeface="Karla" pitchFamily="34" charset="-122"/>
                <a:cs typeface="Karla" pitchFamily="34" charset="-120"/>
              </a:rPr>
              <a:t>Hair running order written from your day-sheet and sent to you and the bride. Any conflict with photography or transport gets found here, not on the day.</a:t>
            </a:r>
            <a:endParaRPr lang="en-US" sz="1150" dirty="0"/>
          </a:p>
        </p:txBody>
      </p:sp>
      <p:sp>
        <p:nvSpPr>
          <p:cNvPr id="7" name="Shape 5"/>
          <p:cNvSpPr/>
          <p:nvPr/>
        </p:nvSpPr>
        <p:spPr>
          <a:xfrm>
            <a:off x="777240" y="3090672"/>
            <a:ext cx="10378440" cy="0"/>
          </a:xfrm>
          <a:prstGeom prst="line">
            <a:avLst/>
          </a:prstGeom>
          <a:noFill/>
          <a:ln w="6350">
            <a:solidFill>
              <a:srgbClr val="B98B4A">
                <a:alpha val="45000"/>
              </a:srgbClr>
            </a:solidFill>
            <a:prstDash val="solid"/>
          </a:ln>
        </p:spPr>
      </p:sp>
      <p:sp>
        <p:nvSpPr>
          <p:cNvPr id="8" name="Text 6"/>
          <p:cNvSpPr/>
          <p:nvPr/>
        </p:nvSpPr>
        <p:spPr>
          <a:xfrm>
            <a:off x="777240" y="3209544"/>
            <a:ext cx="1691640" cy="274320"/>
          </a:xfrm>
          <a:prstGeom prst="rect">
            <a:avLst/>
          </a:prstGeom>
          <a:noFill/>
          <a:ln/>
        </p:spPr>
        <p:txBody>
          <a:bodyPr wrap="square" lIns="0" tIns="0" rIns="0" bIns="0" rtlCol="0" anchor="ctr"/>
          <a:lstStyle/>
          <a:p>
            <a:pPr indent="0" marL="0">
              <a:buNone/>
            </a:pPr>
            <a:r>
              <a:rPr lang="en-US" sz="950" b="1" spc="200" kern="0" dirty="0">
                <a:solidFill>
                  <a:srgbClr val="B98B4A"/>
                </a:solidFill>
                <a:latin typeface="Karla" pitchFamily="34" charset="0"/>
                <a:ea typeface="Karla" pitchFamily="34" charset="-122"/>
                <a:cs typeface="Karla" pitchFamily="34" charset="-120"/>
              </a:rPr>
              <a:t>THE WEEK OF</a:t>
            </a:r>
            <a:endParaRPr lang="en-US" sz="950" dirty="0"/>
          </a:p>
        </p:txBody>
      </p:sp>
      <p:sp>
        <p:nvSpPr>
          <p:cNvPr id="9" name="Text 7"/>
          <p:cNvSpPr/>
          <p:nvPr/>
        </p:nvSpPr>
        <p:spPr>
          <a:xfrm>
            <a:off x="2606040" y="3136392"/>
            <a:ext cx="2103120" cy="329184"/>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Confirmed</a:t>
            </a:r>
            <a:endParaRPr lang="en-US" sz="1900" dirty="0"/>
          </a:p>
        </p:txBody>
      </p:sp>
      <p:sp>
        <p:nvSpPr>
          <p:cNvPr id="10" name="Text 8"/>
          <p:cNvSpPr/>
          <p:nvPr/>
        </p:nvSpPr>
        <p:spPr>
          <a:xfrm>
            <a:off x="4754880" y="3172968"/>
            <a:ext cx="6400800" cy="566928"/>
          </a:xfrm>
          <a:prstGeom prst="rect">
            <a:avLst/>
          </a:prstGeom>
          <a:noFill/>
          <a:ln/>
        </p:spPr>
        <p:txBody>
          <a:bodyPr wrap="square" lIns="0" tIns="0" rIns="0" bIns="0" rtlCol="0" anchor="ctr"/>
          <a:lstStyle/>
          <a:p>
            <a:pPr indent="0" marL="0">
              <a:lnSpc>
                <a:spcPts val="1600"/>
              </a:lnSpc>
              <a:buNone/>
            </a:pPr>
            <a:r>
              <a:rPr lang="en-US" sz="1150" dirty="0">
                <a:solidFill>
                  <a:srgbClr val="241E19"/>
                </a:solidFill>
                <a:latin typeface="Karla" pitchFamily="34" charset="0"/>
                <a:ea typeface="Karla" pitchFamily="34" charset="-122"/>
                <a:cs typeface="Karla" pitchFamily="34" charset="-120"/>
              </a:rPr>
              <a:t>Final party numbers, room access, parking and load-in confirmed in writing.</a:t>
            </a:r>
            <a:endParaRPr lang="en-US" sz="1150" dirty="0"/>
          </a:p>
        </p:txBody>
      </p:sp>
      <p:sp>
        <p:nvSpPr>
          <p:cNvPr id="11" name="Shape 9"/>
          <p:cNvSpPr/>
          <p:nvPr/>
        </p:nvSpPr>
        <p:spPr>
          <a:xfrm>
            <a:off x="777240" y="3886200"/>
            <a:ext cx="10378440" cy="0"/>
          </a:xfrm>
          <a:prstGeom prst="line">
            <a:avLst/>
          </a:prstGeom>
          <a:noFill/>
          <a:ln w="6350">
            <a:solidFill>
              <a:srgbClr val="B98B4A">
                <a:alpha val="45000"/>
              </a:srgbClr>
            </a:solidFill>
            <a:prstDash val="solid"/>
          </a:ln>
        </p:spPr>
      </p:sp>
      <p:sp>
        <p:nvSpPr>
          <p:cNvPr id="12" name="Text 10"/>
          <p:cNvSpPr/>
          <p:nvPr/>
        </p:nvSpPr>
        <p:spPr>
          <a:xfrm>
            <a:off x="777240" y="4005072"/>
            <a:ext cx="1691640" cy="274320"/>
          </a:xfrm>
          <a:prstGeom prst="rect">
            <a:avLst/>
          </a:prstGeom>
          <a:noFill/>
          <a:ln/>
        </p:spPr>
        <p:txBody>
          <a:bodyPr wrap="square" lIns="0" tIns="0" rIns="0" bIns="0" rtlCol="0" anchor="ctr"/>
          <a:lstStyle/>
          <a:p>
            <a:pPr indent="0" marL="0">
              <a:buNone/>
            </a:pPr>
            <a:r>
              <a:rPr lang="en-US" sz="950" b="1" spc="200" kern="0" dirty="0">
                <a:solidFill>
                  <a:srgbClr val="B98B4A"/>
                </a:solidFill>
                <a:latin typeface="Karla" pitchFamily="34" charset="0"/>
                <a:ea typeface="Karla" pitchFamily="34" charset="-122"/>
                <a:cs typeface="Karla" pitchFamily="34" charset="-120"/>
              </a:rPr>
              <a:t>MORNING, −30 MIN</a:t>
            </a:r>
            <a:endParaRPr lang="en-US" sz="950" dirty="0"/>
          </a:p>
        </p:txBody>
      </p:sp>
      <p:sp>
        <p:nvSpPr>
          <p:cNvPr id="13" name="Text 11"/>
          <p:cNvSpPr/>
          <p:nvPr/>
        </p:nvSpPr>
        <p:spPr>
          <a:xfrm>
            <a:off x="2606040" y="3931920"/>
            <a:ext cx="2103120" cy="329184"/>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On site</a:t>
            </a:r>
            <a:endParaRPr lang="en-US" sz="1900" dirty="0"/>
          </a:p>
        </p:txBody>
      </p:sp>
      <p:sp>
        <p:nvSpPr>
          <p:cNvPr id="14" name="Text 12"/>
          <p:cNvSpPr/>
          <p:nvPr/>
        </p:nvSpPr>
        <p:spPr>
          <a:xfrm>
            <a:off x="4754880" y="3968496"/>
            <a:ext cx="6400800" cy="566928"/>
          </a:xfrm>
          <a:prstGeom prst="rect">
            <a:avLst/>
          </a:prstGeom>
          <a:noFill/>
          <a:ln/>
        </p:spPr>
        <p:txBody>
          <a:bodyPr wrap="square" lIns="0" tIns="0" rIns="0" bIns="0" rtlCol="0" anchor="ctr"/>
          <a:lstStyle/>
          <a:p>
            <a:pPr indent="0" marL="0">
              <a:lnSpc>
                <a:spcPts val="1600"/>
              </a:lnSpc>
              <a:buNone/>
            </a:pPr>
            <a:r>
              <a:rPr lang="en-US" sz="1150" dirty="0">
                <a:solidFill>
                  <a:srgbClr val="241E19"/>
                </a:solidFill>
                <a:latin typeface="Karla" pitchFamily="34" charset="0"/>
                <a:ea typeface="Karla" pitchFamily="34" charset="-122"/>
                <a:cs typeface="Karla" pitchFamily="34" charset="-120"/>
              </a:rPr>
              <a:t>We arrive ahead of the agreed start. Set up is quiet and takes one corner of the room.</a:t>
            </a:r>
            <a:endParaRPr lang="en-US" sz="1150" dirty="0"/>
          </a:p>
        </p:txBody>
      </p:sp>
      <p:sp>
        <p:nvSpPr>
          <p:cNvPr id="15" name="Shape 13"/>
          <p:cNvSpPr/>
          <p:nvPr/>
        </p:nvSpPr>
        <p:spPr>
          <a:xfrm>
            <a:off x="777240" y="4681728"/>
            <a:ext cx="10378440" cy="0"/>
          </a:xfrm>
          <a:prstGeom prst="line">
            <a:avLst/>
          </a:prstGeom>
          <a:noFill/>
          <a:ln w="6350">
            <a:solidFill>
              <a:srgbClr val="B98B4A">
                <a:alpha val="45000"/>
              </a:srgbClr>
            </a:solidFill>
            <a:prstDash val="solid"/>
          </a:ln>
        </p:spPr>
      </p:sp>
      <p:sp>
        <p:nvSpPr>
          <p:cNvPr id="16" name="Text 14"/>
          <p:cNvSpPr/>
          <p:nvPr/>
        </p:nvSpPr>
        <p:spPr>
          <a:xfrm>
            <a:off x="777240" y="4800600"/>
            <a:ext cx="1691640" cy="274320"/>
          </a:xfrm>
          <a:prstGeom prst="rect">
            <a:avLst/>
          </a:prstGeom>
          <a:noFill/>
          <a:ln/>
        </p:spPr>
        <p:txBody>
          <a:bodyPr wrap="square" lIns="0" tIns="0" rIns="0" bIns="0" rtlCol="0" anchor="ctr"/>
          <a:lstStyle/>
          <a:p>
            <a:pPr indent="0" marL="0">
              <a:buNone/>
            </a:pPr>
            <a:r>
              <a:rPr lang="en-US" sz="950" b="1" spc="200" kern="0" dirty="0">
                <a:solidFill>
                  <a:srgbClr val="B98B4A"/>
                </a:solidFill>
                <a:latin typeface="Karla" pitchFamily="34" charset="0"/>
                <a:ea typeface="Karla" pitchFamily="34" charset="-122"/>
                <a:cs typeface="Karla" pitchFamily="34" charset="-120"/>
              </a:rPr>
              <a:t>MORNING</a:t>
            </a:r>
            <a:endParaRPr lang="en-US" sz="950" dirty="0"/>
          </a:p>
        </p:txBody>
      </p:sp>
      <p:sp>
        <p:nvSpPr>
          <p:cNvPr id="17" name="Text 15"/>
          <p:cNvSpPr/>
          <p:nvPr/>
        </p:nvSpPr>
        <p:spPr>
          <a:xfrm>
            <a:off x="2606040" y="4727448"/>
            <a:ext cx="2103120" cy="329184"/>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Working</a:t>
            </a:r>
            <a:endParaRPr lang="en-US" sz="1900" dirty="0"/>
          </a:p>
        </p:txBody>
      </p:sp>
      <p:sp>
        <p:nvSpPr>
          <p:cNvPr id="18" name="Text 16"/>
          <p:cNvSpPr/>
          <p:nvPr/>
        </p:nvSpPr>
        <p:spPr>
          <a:xfrm>
            <a:off x="4754880" y="4764024"/>
            <a:ext cx="6400800" cy="566928"/>
          </a:xfrm>
          <a:prstGeom prst="rect">
            <a:avLst/>
          </a:prstGeom>
          <a:noFill/>
          <a:ln/>
        </p:spPr>
        <p:txBody>
          <a:bodyPr wrap="square" lIns="0" tIns="0" rIns="0" bIns="0" rtlCol="0" anchor="ctr"/>
          <a:lstStyle/>
          <a:p>
            <a:pPr indent="0" marL="0">
              <a:lnSpc>
                <a:spcPts val="1600"/>
              </a:lnSpc>
              <a:buNone/>
            </a:pPr>
            <a:r>
              <a:rPr lang="en-US" sz="1150" dirty="0">
                <a:solidFill>
                  <a:srgbClr val="241E19"/>
                </a:solidFill>
                <a:latin typeface="Karla" pitchFamily="34" charset="0"/>
                <a:ea typeface="Karla" pitchFamily="34" charset="-122"/>
                <a:cs typeface="Karla" pitchFamily="34" charset="-120"/>
              </a:rPr>
              <a:t>Party first, bride last, so she's finished closest to the photographs. Veil fitted and tested before we leave.</a:t>
            </a:r>
            <a:endParaRPr lang="en-US" sz="1150" dirty="0"/>
          </a:p>
        </p:txBody>
      </p:sp>
      <p:sp>
        <p:nvSpPr>
          <p:cNvPr id="19" name="Shape 17"/>
          <p:cNvSpPr/>
          <p:nvPr/>
        </p:nvSpPr>
        <p:spPr>
          <a:xfrm>
            <a:off x="777240" y="5477256"/>
            <a:ext cx="10378440" cy="0"/>
          </a:xfrm>
          <a:prstGeom prst="line">
            <a:avLst/>
          </a:prstGeom>
          <a:noFill/>
          <a:ln w="6350">
            <a:solidFill>
              <a:srgbClr val="B98B4A">
                <a:alpha val="45000"/>
              </a:srgbClr>
            </a:solidFill>
            <a:prstDash val="solid"/>
          </a:ln>
        </p:spPr>
      </p:sp>
      <p:sp>
        <p:nvSpPr>
          <p:cNvPr id="20" name="Text 18"/>
          <p:cNvSpPr/>
          <p:nvPr/>
        </p:nvSpPr>
        <p:spPr>
          <a:xfrm>
            <a:off x="777240" y="5596128"/>
            <a:ext cx="1691640" cy="274320"/>
          </a:xfrm>
          <a:prstGeom prst="rect">
            <a:avLst/>
          </a:prstGeom>
          <a:noFill/>
          <a:ln/>
        </p:spPr>
        <p:txBody>
          <a:bodyPr wrap="square" lIns="0" tIns="0" rIns="0" bIns="0" rtlCol="0" anchor="ctr"/>
          <a:lstStyle/>
          <a:p>
            <a:pPr indent="0" marL="0">
              <a:buNone/>
            </a:pPr>
            <a:r>
              <a:rPr lang="en-US" sz="950" b="1" spc="200" kern="0" dirty="0">
                <a:solidFill>
                  <a:srgbClr val="B98B4A"/>
                </a:solidFill>
                <a:latin typeface="Karla" pitchFamily="34" charset="0"/>
                <a:ea typeface="Karla" pitchFamily="34" charset="-122"/>
                <a:cs typeface="Karla" pitchFamily="34" charset="-120"/>
              </a:rPr>
              <a:t>HAND OFF</a:t>
            </a:r>
            <a:endParaRPr lang="en-US" sz="950" dirty="0"/>
          </a:p>
        </p:txBody>
      </p:sp>
      <p:sp>
        <p:nvSpPr>
          <p:cNvPr id="21" name="Text 19"/>
          <p:cNvSpPr/>
          <p:nvPr/>
        </p:nvSpPr>
        <p:spPr>
          <a:xfrm>
            <a:off x="2606040" y="5522976"/>
            <a:ext cx="2103120" cy="329184"/>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Clear</a:t>
            </a:r>
            <a:endParaRPr lang="en-US" sz="1900" dirty="0"/>
          </a:p>
        </p:txBody>
      </p:sp>
      <p:sp>
        <p:nvSpPr>
          <p:cNvPr id="22" name="Text 20"/>
          <p:cNvSpPr/>
          <p:nvPr/>
        </p:nvSpPr>
        <p:spPr>
          <a:xfrm>
            <a:off x="4754880" y="5559552"/>
            <a:ext cx="6400800" cy="566928"/>
          </a:xfrm>
          <a:prstGeom prst="rect">
            <a:avLst/>
          </a:prstGeom>
          <a:noFill/>
          <a:ln/>
        </p:spPr>
        <p:txBody>
          <a:bodyPr wrap="square" lIns="0" tIns="0" rIns="0" bIns="0" rtlCol="0" anchor="ctr"/>
          <a:lstStyle/>
          <a:p>
            <a:pPr indent="0" marL="0">
              <a:lnSpc>
                <a:spcPts val="1600"/>
              </a:lnSpc>
              <a:buNone/>
            </a:pPr>
            <a:r>
              <a:rPr lang="en-US" sz="1150" dirty="0">
                <a:solidFill>
                  <a:srgbClr val="241E19"/>
                </a:solidFill>
                <a:latin typeface="Karla" pitchFamily="34" charset="0"/>
                <a:ea typeface="Karla" pitchFamily="34" charset="-122"/>
                <a:cs typeface="Karla" pitchFamily="34" charset="-120"/>
              </a:rPr>
              <a:t>Room tidied, touch-up kit left with the bride, and we tell you we're done.</a:t>
            </a:r>
            <a:endParaRPr lang="en-US" sz="1150" dirty="0"/>
          </a:p>
        </p:txBody>
      </p:sp>
      <p:sp>
        <p:nvSpPr>
          <p:cNvPr id="23" name="Text 21"/>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24" name="Text 22"/>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WORKING TOGETHER</a:t>
            </a:r>
            <a:endParaRPr lang="en-US" sz="1000" dirty="0"/>
          </a:p>
        </p:txBody>
      </p:sp>
      <p:sp>
        <p:nvSpPr>
          <p:cNvPr id="3" name="Text 1"/>
          <p:cNvSpPr/>
          <p:nvPr/>
        </p:nvSpPr>
        <p:spPr>
          <a:xfrm>
            <a:off x="777240" y="1188720"/>
            <a:ext cx="7315200" cy="1051560"/>
          </a:xfrm>
          <a:prstGeom prst="rect">
            <a:avLst/>
          </a:prstGeom>
          <a:noFill/>
          <a:ln/>
        </p:spPr>
        <p:txBody>
          <a:bodyPr wrap="square" lIns="0" tIns="0" rIns="0" bIns="0" rtlCol="0" anchor="t"/>
          <a:lstStyle/>
          <a:p>
            <a:pPr algn="l" indent="0" marL="0">
              <a:buNone/>
            </a:pPr>
            <a:r>
              <a:rPr lang="en-US" sz="3800" dirty="0">
                <a:solidFill>
                  <a:srgbClr val="241E19"/>
                </a:solidFill>
                <a:latin typeface="Instrument Serif" pitchFamily="34" charset="0"/>
                <a:ea typeface="Instrument Serif" pitchFamily="34" charset="-122"/>
                <a:cs typeface="Instrument Serif" pitchFamily="34" charset="-120"/>
              </a:rPr>
              <a:t>What you get. What we ask.</a:t>
            </a:r>
            <a:endParaRPr lang="en-US" sz="3800" dirty="0"/>
          </a:p>
        </p:txBody>
      </p:sp>
      <p:sp>
        <p:nvSpPr>
          <p:cNvPr id="4" name="Shape 2"/>
          <p:cNvSpPr/>
          <p:nvPr/>
        </p:nvSpPr>
        <p:spPr>
          <a:xfrm>
            <a:off x="777240" y="2331720"/>
            <a:ext cx="5120640" cy="3246120"/>
          </a:xfrm>
          <a:prstGeom prst="rect">
            <a:avLst/>
          </a:prstGeom>
          <a:solidFill>
            <a:srgbClr val="DEDAD1"/>
          </a:solidFill>
          <a:ln/>
        </p:spPr>
      </p:sp>
      <p:sp>
        <p:nvSpPr>
          <p:cNvPr id="5" name="Text 3"/>
          <p:cNvSpPr/>
          <p:nvPr/>
        </p:nvSpPr>
        <p:spPr>
          <a:xfrm>
            <a:off x="1188720" y="2651760"/>
            <a:ext cx="4206240" cy="365760"/>
          </a:xfrm>
          <a:prstGeom prst="rect">
            <a:avLst/>
          </a:prstGeom>
          <a:noFill/>
          <a:ln/>
        </p:spPr>
        <p:txBody>
          <a:bodyPr wrap="square" lIns="0" tIns="0" rIns="0" bIns="0" rtlCol="0" anchor="ctr"/>
          <a:lstStyle/>
          <a:p>
            <a:pPr indent="0" marL="0">
              <a:buNone/>
            </a:pPr>
            <a:r>
              <a:rPr lang="en-US" sz="2300" dirty="0">
                <a:solidFill>
                  <a:srgbClr val="241E19"/>
                </a:solidFill>
                <a:latin typeface="Instrument Serif" pitchFamily="34" charset="0"/>
                <a:ea typeface="Instrument Serif" pitchFamily="34" charset="-122"/>
                <a:cs typeface="Instrument Serif" pitchFamily="34" charset="-120"/>
              </a:rPr>
              <a:t>What you get</a:t>
            </a:r>
            <a:endParaRPr lang="en-US" sz="2300" dirty="0"/>
          </a:p>
        </p:txBody>
      </p:sp>
      <p:sp>
        <p:nvSpPr>
          <p:cNvPr id="6" name="Text 4"/>
          <p:cNvSpPr/>
          <p:nvPr/>
        </p:nvSpPr>
        <p:spPr>
          <a:xfrm>
            <a:off x="1188720" y="3200400"/>
            <a:ext cx="4343400" cy="214884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A named contact — Noelle, directly, not a booking inbox</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A reply to any enquiry within one working day</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A written commitment never to overrun the allotted slot</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Proof of insurance and a signed supplier agreement on file</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Printed cards for the getting-ready suite, restocked</a:t>
            </a:r>
            <a:endParaRPr lang="en-US" sz="1200" dirty="0"/>
          </a:p>
        </p:txBody>
      </p:sp>
      <p:sp>
        <p:nvSpPr>
          <p:cNvPr id="7" name="Shape 5"/>
          <p:cNvSpPr/>
          <p:nvPr/>
        </p:nvSpPr>
        <p:spPr>
          <a:xfrm>
            <a:off x="6355080" y="2331720"/>
            <a:ext cx="5029200" cy="3246120"/>
          </a:xfrm>
          <a:prstGeom prst="rect">
            <a:avLst/>
          </a:prstGeom>
          <a:solidFill>
            <a:srgbClr val="EFEDE7"/>
          </a:solidFill>
          <a:ln w="12700">
            <a:solidFill>
              <a:srgbClr val="6E4A2C"/>
            </a:solidFill>
            <a:prstDash val="solid"/>
          </a:ln>
        </p:spPr>
      </p:sp>
      <p:sp>
        <p:nvSpPr>
          <p:cNvPr id="8" name="Text 6"/>
          <p:cNvSpPr/>
          <p:nvPr/>
        </p:nvSpPr>
        <p:spPr>
          <a:xfrm>
            <a:off x="6766560" y="2651760"/>
            <a:ext cx="4206240" cy="365760"/>
          </a:xfrm>
          <a:prstGeom prst="rect">
            <a:avLst/>
          </a:prstGeom>
          <a:noFill/>
          <a:ln/>
        </p:spPr>
        <p:txBody>
          <a:bodyPr wrap="square" lIns="0" tIns="0" rIns="0" bIns="0" rtlCol="0" anchor="ctr"/>
          <a:lstStyle/>
          <a:p>
            <a:pPr indent="0" marL="0">
              <a:buNone/>
            </a:pPr>
            <a:r>
              <a:rPr lang="en-US" sz="2300" dirty="0">
                <a:solidFill>
                  <a:srgbClr val="241E19"/>
                </a:solidFill>
                <a:latin typeface="Instrument Serif" pitchFamily="34" charset="0"/>
                <a:ea typeface="Instrument Serif" pitchFamily="34" charset="-122"/>
                <a:cs typeface="Instrument Serif" pitchFamily="34" charset="-120"/>
              </a:rPr>
              <a:t>What we ask</a:t>
            </a:r>
            <a:endParaRPr lang="en-US" sz="2300" dirty="0"/>
          </a:p>
        </p:txBody>
      </p:sp>
      <p:sp>
        <p:nvSpPr>
          <p:cNvPr id="9" name="Text 7"/>
          <p:cNvSpPr/>
          <p:nvPr/>
        </p:nvSpPr>
        <p:spPr>
          <a:xfrm>
            <a:off x="6766560" y="3200400"/>
            <a:ext cx="4251960" cy="214884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A place on your preferred supplier list</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An introduction when a bride asks about hair</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The day-sheet six weeks out, so the timeline is real</a:t>
            </a:r>
            <a:endParaRPr lang="en-US" sz="1200" dirty="0"/>
          </a:p>
          <a:p>
            <a:pPr marL="342900" indent="-342900">
              <a:lnSpc>
                <a:spcPts val="1600"/>
              </a:lnSpc>
              <a:spcAft>
                <a:spcPts val="900"/>
              </a:spcAft>
              <a:buSzPct val="100000"/>
              <a:buChar char="•"/>
            </a:pPr>
            <a:r>
              <a:rPr lang="en-US" sz="1200" dirty="0">
                <a:solidFill>
                  <a:srgbClr val="241E19"/>
                </a:solidFill>
                <a:latin typeface="Karla" pitchFamily="34" charset="0"/>
                <a:ea typeface="Karla" pitchFamily="34" charset="-122"/>
                <a:cs typeface="Karla" pitchFamily="34" charset="-120"/>
              </a:rPr>
              <a:t>Nothing else — no commission, no exclusivity, no fee</a:t>
            </a:r>
            <a:endParaRPr lang="en-US" sz="1200" dirty="0"/>
          </a:p>
        </p:txBody>
      </p:sp>
      <p:sp>
        <p:nvSpPr>
          <p:cNvPr id="10" name="Text 8"/>
          <p:cNvSpPr/>
          <p:nvPr/>
        </p:nvSpPr>
        <p:spPr>
          <a:xfrm>
            <a:off x="777240" y="5806440"/>
            <a:ext cx="10424160" cy="365760"/>
          </a:xfrm>
          <a:prstGeom prst="rect">
            <a:avLst/>
          </a:prstGeom>
          <a:noFill/>
          <a:ln/>
        </p:spPr>
        <p:txBody>
          <a:bodyPr wrap="square" lIns="0" tIns="0" rIns="0" bIns="0" rtlCol="0" anchor="ctr"/>
          <a:lstStyle/>
          <a:p>
            <a:pPr indent="0" marL="0">
              <a:buNone/>
            </a:pPr>
            <a:r>
              <a:rPr lang="en-US" sz="1700" i="1" dirty="0">
                <a:solidFill>
                  <a:srgbClr val="6E4A2C"/>
                </a:solidFill>
                <a:latin typeface="Instrument Serif" pitchFamily="34" charset="0"/>
                <a:ea typeface="Instrument Serif" pitchFamily="34" charset="-122"/>
                <a:cs typeface="Instrument Serif" pitchFamily="34" charset="-120"/>
              </a:rPr>
              <a:t>We don't pay for referrals. A recommendation that was bought isn't worth having — yours or ours.</a:t>
            </a:r>
            <a:endParaRPr lang="en-US" sz="1700" dirty="0"/>
          </a:p>
        </p:txBody>
      </p:sp>
      <p:sp>
        <p:nvSpPr>
          <p:cNvPr id="11" name="Text 9"/>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2" name="Text 10"/>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SERVICE AREA</a:t>
            </a:r>
            <a:endParaRPr lang="en-US" sz="1000" dirty="0"/>
          </a:p>
        </p:txBody>
      </p:sp>
      <p:sp>
        <p:nvSpPr>
          <p:cNvPr id="3" name="Text 1"/>
          <p:cNvSpPr/>
          <p:nvPr/>
        </p:nvSpPr>
        <p:spPr>
          <a:xfrm>
            <a:off x="777240" y="1188720"/>
            <a:ext cx="5486400" cy="1051560"/>
          </a:xfrm>
          <a:prstGeom prst="rect">
            <a:avLst/>
          </a:prstGeom>
          <a:noFill/>
          <a:ln/>
        </p:spPr>
        <p:txBody>
          <a:bodyPr wrap="square" lIns="0" tIns="0" rIns="0" bIns="0" rtlCol="0" anchor="t"/>
          <a:lstStyle/>
          <a:p>
            <a:pPr algn="l" indent="0" marL="0">
              <a:buNone/>
            </a:pPr>
            <a:r>
              <a:rPr lang="en-US" sz="3800" dirty="0">
                <a:solidFill>
                  <a:srgbClr val="241E19"/>
                </a:solidFill>
                <a:latin typeface="Instrument Serif" pitchFamily="34" charset="0"/>
                <a:ea typeface="Instrument Serif" pitchFamily="34" charset="-122"/>
                <a:cs typeface="Instrument Serif" pitchFamily="34" charset="-120"/>
              </a:rPr>
              <a:t>Across the GTA.</a:t>
            </a:r>
            <a:endParaRPr lang="en-US" sz="3800" dirty="0"/>
          </a:p>
        </p:txBody>
      </p:sp>
      <p:sp>
        <p:nvSpPr>
          <p:cNvPr id="4" name="Text 2"/>
          <p:cNvSpPr/>
          <p:nvPr/>
        </p:nvSpPr>
        <p:spPr>
          <a:xfrm>
            <a:off x="777240" y="2194560"/>
            <a:ext cx="4846320" cy="1097280"/>
          </a:xfrm>
          <a:prstGeom prst="rect">
            <a:avLst/>
          </a:prstGeom>
          <a:noFill/>
          <a:ln/>
        </p:spPr>
        <p:txBody>
          <a:bodyPr wrap="square" lIns="0" tIns="0" rIns="0" bIns="0" rtlCol="0" anchor="ctr"/>
          <a:lstStyle/>
          <a:p>
            <a:pPr indent="0" marL="0">
              <a:lnSpc>
                <a:spcPts val="1800"/>
              </a:lnSpc>
              <a:buNone/>
            </a:pPr>
            <a:r>
              <a:rPr lang="en-US" sz="1250" dirty="0">
                <a:solidFill>
                  <a:srgbClr val="241E19"/>
                </a:solidFill>
                <a:latin typeface="Karla" pitchFamily="34" charset="0"/>
                <a:ea typeface="Karla" pitchFamily="34" charset="-122"/>
                <a:cs typeface="Karla" pitchFamily="34" charset="-120"/>
              </a:rPr>
              <a:t>Travel is quoted per wedding. For anything beyond ninety minutes we stay the night before — arriving early isn't a promise we make conditional on traffic.</a:t>
            </a:r>
            <a:endParaRPr lang="en-US" sz="1250" dirty="0"/>
          </a:p>
        </p:txBody>
      </p:sp>
      <p:pic>
        <p:nvPicPr>
          <p:cNvPr id="5" name="Image 0" descr="assets/pin-tortoise.png">    </p:cNvPr>
          <p:cNvPicPr>
            <a:picLocks noChangeAspect="1"/>
          </p:cNvPicPr>
          <p:nvPr/>
        </p:nvPicPr>
        <p:blipFill>
          <a:blip r:embed="rId1"/>
          <a:stretch>
            <a:fillRect/>
          </a:stretch>
        </p:blipFill>
        <p:spPr>
          <a:xfrm>
            <a:off x="777240" y="3749040"/>
            <a:ext cx="699516" cy="1371600"/>
          </a:xfrm>
          <a:prstGeom prst="rect">
            <a:avLst/>
          </a:prstGeom>
        </p:spPr>
      </p:pic>
      <p:sp>
        <p:nvSpPr>
          <p:cNvPr id="6" name="Text 3"/>
          <p:cNvSpPr/>
          <p:nvPr/>
        </p:nvSpPr>
        <p:spPr>
          <a:xfrm>
            <a:off x="6309360" y="1965960"/>
            <a:ext cx="1737360" cy="310896"/>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Toronto</a:t>
            </a:r>
            <a:endParaRPr lang="en-US" sz="1900" dirty="0"/>
          </a:p>
        </p:txBody>
      </p:sp>
      <p:sp>
        <p:nvSpPr>
          <p:cNvPr id="7" name="Text 4"/>
          <p:cNvSpPr/>
          <p:nvPr/>
        </p:nvSpPr>
        <p:spPr>
          <a:xfrm>
            <a:off x="7955280" y="2029968"/>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241E19"/>
                </a:solidFill>
                <a:latin typeface="Karla" pitchFamily="34" charset="0"/>
                <a:ea typeface="Karla" pitchFamily="34" charset="-122"/>
                <a:cs typeface="Karla" pitchFamily="34" charset="-120"/>
              </a:rPr>
              <a:t>North York · Etobicoke · Scarborough · East York</a:t>
            </a:r>
            <a:endParaRPr lang="en-US" sz="1100" dirty="0"/>
          </a:p>
        </p:txBody>
      </p:sp>
      <p:sp>
        <p:nvSpPr>
          <p:cNvPr id="8" name="Text 5"/>
          <p:cNvSpPr/>
          <p:nvPr/>
        </p:nvSpPr>
        <p:spPr>
          <a:xfrm>
            <a:off x="6309360" y="2724912"/>
            <a:ext cx="1737360" cy="310896"/>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West</a:t>
            </a:r>
            <a:endParaRPr lang="en-US" sz="1900" dirty="0"/>
          </a:p>
        </p:txBody>
      </p:sp>
      <p:sp>
        <p:nvSpPr>
          <p:cNvPr id="9" name="Text 6"/>
          <p:cNvSpPr/>
          <p:nvPr/>
        </p:nvSpPr>
        <p:spPr>
          <a:xfrm>
            <a:off x="7955280" y="2788920"/>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241E19"/>
                </a:solidFill>
                <a:latin typeface="Karla" pitchFamily="34" charset="0"/>
                <a:ea typeface="Karla" pitchFamily="34" charset="-122"/>
                <a:cs typeface="Karla" pitchFamily="34" charset="-120"/>
              </a:rPr>
              <a:t>Mississauga · Oakville · Burlington · Brampton</a:t>
            </a:r>
            <a:endParaRPr lang="en-US" sz="1100" dirty="0"/>
          </a:p>
        </p:txBody>
      </p:sp>
      <p:sp>
        <p:nvSpPr>
          <p:cNvPr id="10" name="Text 7"/>
          <p:cNvSpPr/>
          <p:nvPr/>
        </p:nvSpPr>
        <p:spPr>
          <a:xfrm>
            <a:off x="6309360" y="3483864"/>
            <a:ext cx="1737360" cy="310896"/>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North</a:t>
            </a:r>
            <a:endParaRPr lang="en-US" sz="1900" dirty="0"/>
          </a:p>
        </p:txBody>
      </p:sp>
      <p:sp>
        <p:nvSpPr>
          <p:cNvPr id="11" name="Text 8"/>
          <p:cNvSpPr/>
          <p:nvPr/>
        </p:nvSpPr>
        <p:spPr>
          <a:xfrm>
            <a:off x="7955280" y="3547872"/>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241E19"/>
                </a:solidFill>
                <a:latin typeface="Karla" pitchFamily="34" charset="0"/>
                <a:ea typeface="Karla" pitchFamily="34" charset="-122"/>
                <a:cs typeface="Karla" pitchFamily="34" charset="-120"/>
              </a:rPr>
              <a:t>Vaughan · Markham · Richmond Hill · Aurora · Newmarket</a:t>
            </a:r>
            <a:endParaRPr lang="en-US" sz="1100" dirty="0"/>
          </a:p>
        </p:txBody>
      </p:sp>
      <p:sp>
        <p:nvSpPr>
          <p:cNvPr id="12" name="Text 9"/>
          <p:cNvSpPr/>
          <p:nvPr/>
        </p:nvSpPr>
        <p:spPr>
          <a:xfrm>
            <a:off x="6309360" y="4242816"/>
            <a:ext cx="1737360" cy="310896"/>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East</a:t>
            </a:r>
            <a:endParaRPr lang="en-US" sz="1900" dirty="0"/>
          </a:p>
        </p:txBody>
      </p:sp>
      <p:sp>
        <p:nvSpPr>
          <p:cNvPr id="13" name="Text 10"/>
          <p:cNvSpPr/>
          <p:nvPr/>
        </p:nvSpPr>
        <p:spPr>
          <a:xfrm>
            <a:off x="7955280" y="4306824"/>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241E19"/>
                </a:solidFill>
                <a:latin typeface="Karla" pitchFamily="34" charset="0"/>
                <a:ea typeface="Karla" pitchFamily="34" charset="-122"/>
                <a:cs typeface="Karla" pitchFamily="34" charset="-120"/>
              </a:rPr>
              <a:t>Pickering · Ajax · Whitby · Oshawa</a:t>
            </a:r>
            <a:endParaRPr lang="en-US" sz="1100" dirty="0"/>
          </a:p>
        </p:txBody>
      </p:sp>
      <p:sp>
        <p:nvSpPr>
          <p:cNvPr id="14" name="Text 11"/>
          <p:cNvSpPr/>
          <p:nvPr/>
        </p:nvSpPr>
        <p:spPr>
          <a:xfrm>
            <a:off x="6309360" y="5001768"/>
            <a:ext cx="1737360" cy="310896"/>
          </a:xfrm>
          <a:prstGeom prst="rect">
            <a:avLst/>
          </a:prstGeom>
          <a:noFill/>
          <a:ln/>
        </p:spPr>
        <p:txBody>
          <a:bodyPr wrap="square" lIns="0" tIns="0" rIns="0" bIns="0" rtlCol="0" anchor="ctr"/>
          <a:lstStyle/>
          <a:p>
            <a:pPr indent="0" marL="0">
              <a:buNone/>
            </a:pPr>
            <a:r>
              <a:rPr lang="en-US" sz="1900" dirty="0">
                <a:solidFill>
                  <a:srgbClr val="6E4A2C"/>
                </a:solidFill>
                <a:latin typeface="Instrument Serif" pitchFamily="34" charset="0"/>
                <a:ea typeface="Instrument Serif" pitchFamily="34" charset="-122"/>
                <a:cs typeface="Instrument Serif" pitchFamily="34" charset="-120"/>
              </a:rPr>
              <a:t>Beyond</a:t>
            </a:r>
            <a:endParaRPr lang="en-US" sz="1900" dirty="0"/>
          </a:p>
        </p:txBody>
      </p:sp>
      <p:sp>
        <p:nvSpPr>
          <p:cNvPr id="15" name="Text 12"/>
          <p:cNvSpPr/>
          <p:nvPr/>
        </p:nvSpPr>
        <p:spPr>
          <a:xfrm>
            <a:off x="7955280" y="5065776"/>
            <a:ext cx="3474720" cy="457200"/>
          </a:xfrm>
          <a:prstGeom prst="rect">
            <a:avLst/>
          </a:prstGeom>
          <a:noFill/>
          <a:ln/>
        </p:spPr>
        <p:txBody>
          <a:bodyPr wrap="square" lIns="0" tIns="0" rIns="0" bIns="0" rtlCol="0" anchor="ctr"/>
          <a:lstStyle/>
          <a:p>
            <a:pPr indent="0" marL="0">
              <a:lnSpc>
                <a:spcPts val="1500"/>
              </a:lnSpc>
              <a:buNone/>
            </a:pPr>
            <a:r>
              <a:rPr lang="en-US" sz="1100" dirty="0">
                <a:solidFill>
                  <a:srgbClr val="241E19"/>
                </a:solidFill>
                <a:latin typeface="Karla" pitchFamily="34" charset="0"/>
                <a:ea typeface="Karla" pitchFamily="34" charset="-122"/>
                <a:cs typeface="Karla" pitchFamily="34" charset="-120"/>
              </a:rPr>
              <a:t>Niagara · Muskoka · Prince Edward County — by arrangement</a:t>
            </a:r>
            <a:endParaRPr lang="en-US" sz="1100" dirty="0"/>
          </a:p>
        </p:txBody>
      </p:sp>
      <p:sp>
        <p:nvSpPr>
          <p:cNvPr id="16" name="Text 13"/>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7" name="Text 14"/>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THE WORK</a:t>
            </a:r>
            <a:endParaRPr lang="en-US" sz="1000" dirty="0"/>
          </a:p>
        </p:txBody>
      </p:sp>
      <p:sp>
        <p:nvSpPr>
          <p:cNvPr id="3" name="Text 1"/>
          <p:cNvSpPr/>
          <p:nvPr/>
        </p:nvSpPr>
        <p:spPr>
          <a:xfrm>
            <a:off x="777240" y="1188720"/>
            <a:ext cx="8686800" cy="1051560"/>
          </a:xfrm>
          <a:prstGeom prst="rect">
            <a:avLst/>
          </a:prstGeom>
          <a:noFill/>
          <a:ln/>
        </p:spPr>
        <p:txBody>
          <a:bodyPr wrap="square" lIns="0" tIns="0" rIns="0" bIns="0" rtlCol="0" anchor="t"/>
          <a:lstStyle/>
          <a:p>
            <a:pPr algn="l" indent="0" marL="0">
              <a:buNone/>
            </a:pPr>
            <a:r>
              <a:rPr lang="en-US" sz="3400" dirty="0">
                <a:solidFill>
                  <a:srgbClr val="241E19"/>
                </a:solidFill>
                <a:latin typeface="Instrument Serif" pitchFamily="34" charset="0"/>
                <a:ea typeface="Instrument Serif" pitchFamily="34" charset="-122"/>
                <a:cs typeface="Instrument Serif" pitchFamily="34" charset="-120"/>
              </a:rPr>
              <a:t>Photographed from behind, at the end of the night.</a:t>
            </a:r>
            <a:endParaRPr lang="en-US" sz="3400" dirty="0"/>
          </a:p>
        </p:txBody>
      </p:sp>
      <p:sp>
        <p:nvSpPr>
          <p:cNvPr id="4" name="Shape 2"/>
          <p:cNvSpPr/>
          <p:nvPr/>
        </p:nvSpPr>
        <p:spPr>
          <a:xfrm>
            <a:off x="777240" y="2468880"/>
            <a:ext cx="3291840" cy="2880360"/>
          </a:xfrm>
          <a:prstGeom prst="rect">
            <a:avLst/>
          </a:prstGeom>
          <a:solidFill>
            <a:srgbClr val="DEDAD1"/>
          </a:solidFill>
          <a:ln w="9525">
            <a:solidFill>
              <a:srgbClr val="B98B4A"/>
            </a:solidFill>
            <a:prstDash val="dash"/>
          </a:ln>
        </p:spPr>
      </p:sp>
      <p:sp>
        <p:nvSpPr>
          <p:cNvPr id="5" name="Text 3"/>
          <p:cNvSpPr/>
          <p:nvPr/>
        </p:nvSpPr>
        <p:spPr>
          <a:xfrm>
            <a:off x="941832" y="3589020"/>
            <a:ext cx="2962656" cy="640080"/>
          </a:xfrm>
          <a:prstGeom prst="rect">
            <a:avLst/>
          </a:prstGeom>
          <a:noFill/>
          <a:ln/>
        </p:spPr>
        <p:txBody>
          <a:bodyPr wrap="square" lIns="0" tIns="0" rIns="0" bIns="0" rtlCol="0" anchor="ctr"/>
          <a:lstStyle/>
          <a:p>
            <a:pPr algn="ctr" indent="0" marL="0">
              <a:buNone/>
            </a:pPr>
            <a:r>
              <a:rPr lang="en-US" sz="1000" dirty="0">
                <a:solidFill>
                  <a:srgbClr val="6E4A2C"/>
                </a:solidFill>
                <a:latin typeface="Karla" pitchFamily="34" charset="0"/>
                <a:ea typeface="Karla" pitchFamily="34" charset="-122"/>
                <a:cs typeface="Karla" pitchFamily="34" charset="-120"/>
              </a:rPr>
              <a:t>PHOTO: back-of-head, sharp, plain background</a:t>
            </a:r>
            <a:endParaRPr lang="en-US" sz="1000" dirty="0"/>
          </a:p>
        </p:txBody>
      </p:sp>
      <p:sp>
        <p:nvSpPr>
          <p:cNvPr id="6" name="Shape 4"/>
          <p:cNvSpPr/>
          <p:nvPr/>
        </p:nvSpPr>
        <p:spPr>
          <a:xfrm>
            <a:off x="4297680" y="2468880"/>
            <a:ext cx="3291840" cy="2880360"/>
          </a:xfrm>
          <a:prstGeom prst="rect">
            <a:avLst/>
          </a:prstGeom>
          <a:solidFill>
            <a:srgbClr val="DEDAD1"/>
          </a:solidFill>
          <a:ln w="9525">
            <a:solidFill>
              <a:srgbClr val="B98B4A"/>
            </a:solidFill>
            <a:prstDash val="dash"/>
          </a:ln>
        </p:spPr>
      </p:sp>
      <p:sp>
        <p:nvSpPr>
          <p:cNvPr id="7" name="Text 5"/>
          <p:cNvSpPr/>
          <p:nvPr/>
        </p:nvSpPr>
        <p:spPr>
          <a:xfrm>
            <a:off x="4462272" y="3589020"/>
            <a:ext cx="2962656" cy="640080"/>
          </a:xfrm>
          <a:prstGeom prst="rect">
            <a:avLst/>
          </a:prstGeom>
          <a:noFill/>
          <a:ln/>
        </p:spPr>
        <p:txBody>
          <a:bodyPr wrap="square" lIns="0" tIns="0" rIns="0" bIns="0" rtlCol="0" anchor="ctr"/>
          <a:lstStyle/>
          <a:p>
            <a:pPr algn="ctr" indent="0" marL="0">
              <a:buNone/>
            </a:pPr>
            <a:r>
              <a:rPr lang="en-US" sz="1000" dirty="0">
                <a:solidFill>
                  <a:srgbClr val="6E4A2C"/>
                </a:solidFill>
                <a:latin typeface="Karla" pitchFamily="34" charset="0"/>
                <a:ea typeface="Karla" pitchFamily="34" charset="-122"/>
                <a:cs typeface="Karla" pitchFamily="34" charset="-120"/>
              </a:rPr>
              <a:t>PHOTO: hands working, mid-pin</a:t>
            </a:r>
            <a:endParaRPr lang="en-US" sz="1000" dirty="0"/>
          </a:p>
        </p:txBody>
      </p:sp>
      <p:sp>
        <p:nvSpPr>
          <p:cNvPr id="8" name="Shape 6"/>
          <p:cNvSpPr/>
          <p:nvPr/>
        </p:nvSpPr>
        <p:spPr>
          <a:xfrm>
            <a:off x="7818120" y="2468880"/>
            <a:ext cx="3291840" cy="2880360"/>
          </a:xfrm>
          <a:prstGeom prst="rect">
            <a:avLst/>
          </a:prstGeom>
          <a:solidFill>
            <a:srgbClr val="DEDAD1"/>
          </a:solidFill>
          <a:ln w="9525">
            <a:solidFill>
              <a:srgbClr val="B98B4A"/>
            </a:solidFill>
            <a:prstDash val="dash"/>
          </a:ln>
        </p:spPr>
      </p:sp>
      <p:sp>
        <p:nvSpPr>
          <p:cNvPr id="9" name="Text 7"/>
          <p:cNvSpPr/>
          <p:nvPr/>
        </p:nvSpPr>
        <p:spPr>
          <a:xfrm>
            <a:off x="7982712" y="3589020"/>
            <a:ext cx="2962656" cy="640080"/>
          </a:xfrm>
          <a:prstGeom prst="rect">
            <a:avLst/>
          </a:prstGeom>
          <a:noFill/>
          <a:ln/>
        </p:spPr>
        <p:txBody>
          <a:bodyPr wrap="square" lIns="0" tIns="0" rIns="0" bIns="0" rtlCol="0" anchor="ctr"/>
          <a:lstStyle/>
          <a:p>
            <a:pPr algn="ctr" indent="0" marL="0">
              <a:buNone/>
            </a:pPr>
            <a:r>
              <a:rPr lang="en-US" sz="1000" dirty="0">
                <a:solidFill>
                  <a:srgbClr val="6E4A2C"/>
                </a:solidFill>
                <a:latin typeface="Karla" pitchFamily="34" charset="0"/>
                <a:ea typeface="Karla" pitchFamily="34" charset="-122"/>
                <a:cs typeface="Karla" pitchFamily="34" charset="-120"/>
              </a:rPr>
              <a:t>PHOTO: the hair at 11pm, still holding</a:t>
            </a:r>
            <a:endParaRPr lang="en-US" sz="1000" dirty="0"/>
          </a:p>
        </p:txBody>
      </p:sp>
      <p:sp>
        <p:nvSpPr>
          <p:cNvPr id="10" name="Text 8"/>
          <p:cNvSpPr/>
          <p:nvPr/>
        </p:nvSpPr>
        <p:spPr>
          <a:xfrm>
            <a:off x="777240" y="5623560"/>
            <a:ext cx="10424160" cy="365760"/>
          </a:xfrm>
          <a:prstGeom prst="rect">
            <a:avLst/>
          </a:prstGeom>
          <a:noFill/>
          <a:ln/>
        </p:spPr>
        <p:txBody>
          <a:bodyPr wrap="square" lIns="0" tIns="0" rIns="0" bIns="0" rtlCol="0" anchor="ctr"/>
          <a:lstStyle/>
          <a:p>
            <a:pPr indent="0" marL="0">
              <a:buNone/>
            </a:pPr>
            <a:r>
              <a:rPr lang="en-US" sz="1800" i="1" dirty="0">
                <a:solidFill>
                  <a:srgbClr val="6E4A2C"/>
                </a:solidFill>
                <a:latin typeface="Instrument Serif" pitchFamily="34" charset="0"/>
                <a:ea typeface="Instrument Serif" pitchFamily="34" charset="-122"/>
                <a:cs typeface="Instrument Serif" pitchFamily="34" charset="-120"/>
              </a:rPr>
              <a:t>Anyone can show you a style at ten in the morning. We photograph ours at eleven at night.</a:t>
            </a:r>
            <a:endParaRPr lang="en-US" sz="1800" dirty="0"/>
          </a:p>
        </p:txBody>
      </p:sp>
      <p:sp>
        <p:nvSpPr>
          <p:cNvPr id="11" name="Text 9"/>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2" name="Text 10"/>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DE7"/>
        </a:solidFill>
      </p:bgPr>
    </p:bg>
    <p:spTree>
      <p:nvGrpSpPr>
        <p:cNvPr id="1" name=""/>
        <p:cNvGrpSpPr/>
        <p:nvPr/>
      </p:nvGrpSpPr>
      <p:grpSpPr>
        <a:xfrm>
          <a:off x="0" y="0"/>
          <a:ext cx="0" cy="0"/>
          <a:chOff x="0" y="0"/>
          <a:chExt cx="0" cy="0"/>
        </a:xfrm>
      </p:grpSpPr>
      <p:sp>
        <p:nvSpPr>
          <p:cNvPr id="2" name="Text 0"/>
          <p:cNvSpPr/>
          <p:nvPr/>
        </p:nvSpPr>
        <p:spPr>
          <a:xfrm>
            <a:off x="777240" y="777240"/>
            <a:ext cx="5486400" cy="256032"/>
          </a:xfrm>
          <a:prstGeom prst="rect">
            <a:avLst/>
          </a:prstGeom>
          <a:noFill/>
          <a:ln/>
        </p:spPr>
        <p:txBody>
          <a:bodyPr wrap="square" lIns="0" tIns="0" rIns="0" bIns="0" rtlCol="0" anchor="ctr"/>
          <a:lstStyle/>
          <a:p>
            <a:pPr algn="l" indent="0" marL="0">
              <a:buNone/>
            </a:pPr>
            <a:r>
              <a:rPr lang="en-US" sz="1000" b="1" spc="300" kern="0" dirty="0">
                <a:solidFill>
                  <a:srgbClr val="6E4A2C"/>
                </a:solidFill>
                <a:latin typeface="Karla" pitchFamily="34" charset="0"/>
                <a:ea typeface="Karla" pitchFamily="34" charset="-122"/>
                <a:cs typeface="Karla" pitchFamily="34" charset="-120"/>
              </a:rPr>
              <a:t>WHAT BRIDES SAY</a:t>
            </a:r>
            <a:endParaRPr lang="en-US" sz="1000" dirty="0"/>
          </a:p>
        </p:txBody>
      </p:sp>
      <p:sp>
        <p:nvSpPr>
          <p:cNvPr id="3" name="Text 1"/>
          <p:cNvSpPr/>
          <p:nvPr/>
        </p:nvSpPr>
        <p:spPr>
          <a:xfrm>
            <a:off x="777240" y="1188720"/>
            <a:ext cx="7315200" cy="1051560"/>
          </a:xfrm>
          <a:prstGeom prst="rect">
            <a:avLst/>
          </a:prstGeom>
          <a:noFill/>
          <a:ln/>
        </p:spPr>
        <p:txBody>
          <a:bodyPr wrap="square" lIns="0" tIns="0" rIns="0" bIns="0" rtlCol="0" anchor="t"/>
          <a:lstStyle/>
          <a:p>
            <a:pPr algn="l" indent="0" marL="0">
              <a:buNone/>
            </a:pPr>
            <a:r>
              <a:rPr lang="en-US" sz="3800" dirty="0">
                <a:solidFill>
                  <a:srgbClr val="241E19"/>
                </a:solidFill>
                <a:latin typeface="Instrument Serif" pitchFamily="34" charset="0"/>
                <a:ea typeface="Instrument Serif" pitchFamily="34" charset="-122"/>
                <a:cs typeface="Instrument Serif" pitchFamily="34" charset="-120"/>
              </a:rPr>
              <a:t>The word we're aiming for is calm.</a:t>
            </a:r>
            <a:endParaRPr lang="en-US" sz="3800" dirty="0"/>
          </a:p>
        </p:txBody>
      </p:sp>
      <p:sp>
        <p:nvSpPr>
          <p:cNvPr id="4" name="Shape 2"/>
          <p:cNvSpPr/>
          <p:nvPr/>
        </p:nvSpPr>
        <p:spPr>
          <a:xfrm>
            <a:off x="777240" y="2468880"/>
            <a:ext cx="3200400" cy="2514600"/>
          </a:xfrm>
          <a:prstGeom prst="rect">
            <a:avLst/>
          </a:prstGeom>
          <a:solidFill>
            <a:srgbClr val="EFEDE7"/>
          </a:solidFill>
          <a:ln w="9525">
            <a:solidFill>
              <a:srgbClr val="B98B4A"/>
            </a:solidFill>
            <a:prstDash val="solid"/>
          </a:ln>
        </p:spPr>
      </p:sp>
      <p:sp>
        <p:nvSpPr>
          <p:cNvPr id="5" name="Text 3"/>
          <p:cNvSpPr/>
          <p:nvPr/>
        </p:nvSpPr>
        <p:spPr>
          <a:xfrm>
            <a:off x="1097280" y="2788920"/>
            <a:ext cx="2560320" cy="1371600"/>
          </a:xfrm>
          <a:prstGeom prst="rect">
            <a:avLst/>
          </a:prstGeom>
          <a:noFill/>
          <a:ln/>
        </p:spPr>
        <p:txBody>
          <a:bodyPr wrap="square" lIns="0" tIns="0" rIns="0" bIns="0" rtlCol="0" anchor="ctr"/>
          <a:lstStyle/>
          <a:p>
            <a:pPr indent="0" marL="0">
              <a:lnSpc>
                <a:spcPts val="2100"/>
              </a:lnSpc>
              <a:buNone/>
            </a:pPr>
            <a:r>
              <a:rPr lang="en-US" sz="1500" i="1" dirty="0">
                <a:solidFill>
                  <a:srgbClr val="6E4A2C"/>
                </a:solidFill>
                <a:latin typeface="Instrument Serif" pitchFamily="34" charset="0"/>
                <a:ea typeface="Instrument Serif" pitchFamily="34" charset="-122"/>
                <a:cs typeface="Instrument Serif" pitchFamily="34" charset="-120"/>
              </a:rPr>
              <a:t>“ Testimonial — pull a quote that mentions timing, calm, or feeling like herself. ”</a:t>
            </a:r>
            <a:endParaRPr lang="en-US" sz="1500" dirty="0"/>
          </a:p>
        </p:txBody>
      </p:sp>
      <p:sp>
        <p:nvSpPr>
          <p:cNvPr id="6" name="Text 4"/>
          <p:cNvSpPr/>
          <p:nvPr/>
        </p:nvSpPr>
        <p:spPr>
          <a:xfrm>
            <a:off x="1097280" y="4343400"/>
            <a:ext cx="2560320" cy="274320"/>
          </a:xfrm>
          <a:prstGeom prst="rect">
            <a:avLst/>
          </a:prstGeom>
          <a:noFill/>
          <a:ln/>
        </p:spPr>
        <p:txBody>
          <a:bodyPr wrap="square" lIns="0" tIns="0" rIns="0" bIns="0" rtlCol="0" anchor="ctr"/>
          <a:lstStyle/>
          <a:p>
            <a:pPr indent="0" marL="0">
              <a:buNone/>
            </a:pPr>
            <a:r>
              <a:rPr lang="en-US" sz="1000" spc="100" kern="0" dirty="0">
                <a:solidFill>
                  <a:srgbClr val="241E19"/>
                </a:solidFill>
                <a:latin typeface="Karla" pitchFamily="34" charset="0"/>
                <a:ea typeface="Karla" pitchFamily="34" charset="-122"/>
                <a:cs typeface="Karla" pitchFamily="34" charset="-120"/>
              </a:rPr>
              <a:t>— Bride, venue, year</a:t>
            </a:r>
            <a:endParaRPr lang="en-US" sz="1000" dirty="0"/>
          </a:p>
        </p:txBody>
      </p:sp>
      <p:sp>
        <p:nvSpPr>
          <p:cNvPr id="7" name="Shape 5"/>
          <p:cNvSpPr/>
          <p:nvPr/>
        </p:nvSpPr>
        <p:spPr>
          <a:xfrm>
            <a:off x="4315968" y="2468880"/>
            <a:ext cx="3200400" cy="2514600"/>
          </a:xfrm>
          <a:prstGeom prst="rect">
            <a:avLst/>
          </a:prstGeom>
          <a:solidFill>
            <a:srgbClr val="EFEDE7"/>
          </a:solidFill>
          <a:ln w="9525">
            <a:solidFill>
              <a:srgbClr val="B98B4A"/>
            </a:solidFill>
            <a:prstDash val="solid"/>
          </a:ln>
        </p:spPr>
      </p:sp>
      <p:sp>
        <p:nvSpPr>
          <p:cNvPr id="8" name="Text 6"/>
          <p:cNvSpPr/>
          <p:nvPr/>
        </p:nvSpPr>
        <p:spPr>
          <a:xfrm>
            <a:off x="4636008" y="2788920"/>
            <a:ext cx="2560320" cy="1371600"/>
          </a:xfrm>
          <a:prstGeom prst="rect">
            <a:avLst/>
          </a:prstGeom>
          <a:noFill/>
          <a:ln/>
        </p:spPr>
        <p:txBody>
          <a:bodyPr wrap="square" lIns="0" tIns="0" rIns="0" bIns="0" rtlCol="0" anchor="ctr"/>
          <a:lstStyle/>
          <a:p>
            <a:pPr indent="0" marL="0">
              <a:lnSpc>
                <a:spcPts val="2100"/>
              </a:lnSpc>
              <a:buNone/>
            </a:pPr>
            <a:r>
              <a:rPr lang="en-US" sz="1500" i="1" dirty="0">
                <a:solidFill>
                  <a:srgbClr val="6E4A2C"/>
                </a:solidFill>
                <a:latin typeface="Instrument Serif" pitchFamily="34" charset="0"/>
                <a:ea typeface="Instrument Serif" pitchFamily="34" charset="-122"/>
                <a:cs typeface="Instrument Serif" pitchFamily="34" charset="-120"/>
              </a:rPr>
              <a:t>“ Testimonial — pull a quote that mentions timing, calm, or feeling like herself. ”</a:t>
            </a:r>
            <a:endParaRPr lang="en-US" sz="1500" dirty="0"/>
          </a:p>
        </p:txBody>
      </p:sp>
      <p:sp>
        <p:nvSpPr>
          <p:cNvPr id="9" name="Text 7"/>
          <p:cNvSpPr/>
          <p:nvPr/>
        </p:nvSpPr>
        <p:spPr>
          <a:xfrm>
            <a:off x="4636008" y="4343400"/>
            <a:ext cx="2560320" cy="274320"/>
          </a:xfrm>
          <a:prstGeom prst="rect">
            <a:avLst/>
          </a:prstGeom>
          <a:noFill/>
          <a:ln/>
        </p:spPr>
        <p:txBody>
          <a:bodyPr wrap="square" lIns="0" tIns="0" rIns="0" bIns="0" rtlCol="0" anchor="ctr"/>
          <a:lstStyle/>
          <a:p>
            <a:pPr indent="0" marL="0">
              <a:buNone/>
            </a:pPr>
            <a:r>
              <a:rPr lang="en-US" sz="1000" spc="100" kern="0" dirty="0">
                <a:solidFill>
                  <a:srgbClr val="241E19"/>
                </a:solidFill>
                <a:latin typeface="Karla" pitchFamily="34" charset="0"/>
                <a:ea typeface="Karla" pitchFamily="34" charset="-122"/>
                <a:cs typeface="Karla" pitchFamily="34" charset="-120"/>
              </a:rPr>
              <a:t>— Bride, venue, year</a:t>
            </a:r>
            <a:endParaRPr lang="en-US" sz="1000" dirty="0"/>
          </a:p>
        </p:txBody>
      </p:sp>
      <p:sp>
        <p:nvSpPr>
          <p:cNvPr id="10" name="Shape 8"/>
          <p:cNvSpPr/>
          <p:nvPr/>
        </p:nvSpPr>
        <p:spPr>
          <a:xfrm>
            <a:off x="7854696" y="2468880"/>
            <a:ext cx="3200400" cy="2514600"/>
          </a:xfrm>
          <a:prstGeom prst="rect">
            <a:avLst/>
          </a:prstGeom>
          <a:solidFill>
            <a:srgbClr val="EFEDE7"/>
          </a:solidFill>
          <a:ln w="9525">
            <a:solidFill>
              <a:srgbClr val="B98B4A"/>
            </a:solidFill>
            <a:prstDash val="solid"/>
          </a:ln>
        </p:spPr>
      </p:sp>
      <p:sp>
        <p:nvSpPr>
          <p:cNvPr id="11" name="Text 9"/>
          <p:cNvSpPr/>
          <p:nvPr/>
        </p:nvSpPr>
        <p:spPr>
          <a:xfrm>
            <a:off x="8174736" y="2788920"/>
            <a:ext cx="2560320" cy="1371600"/>
          </a:xfrm>
          <a:prstGeom prst="rect">
            <a:avLst/>
          </a:prstGeom>
          <a:noFill/>
          <a:ln/>
        </p:spPr>
        <p:txBody>
          <a:bodyPr wrap="square" lIns="0" tIns="0" rIns="0" bIns="0" rtlCol="0" anchor="ctr"/>
          <a:lstStyle/>
          <a:p>
            <a:pPr indent="0" marL="0">
              <a:lnSpc>
                <a:spcPts val="2100"/>
              </a:lnSpc>
              <a:buNone/>
            </a:pPr>
            <a:r>
              <a:rPr lang="en-US" sz="1500" i="1" dirty="0">
                <a:solidFill>
                  <a:srgbClr val="6E4A2C"/>
                </a:solidFill>
                <a:latin typeface="Instrument Serif" pitchFamily="34" charset="0"/>
                <a:ea typeface="Instrument Serif" pitchFamily="34" charset="-122"/>
                <a:cs typeface="Instrument Serif" pitchFamily="34" charset="-120"/>
              </a:rPr>
              <a:t>“ Testimonial — pull a quote that mentions timing, calm, or feeling like herself. ”</a:t>
            </a:r>
            <a:endParaRPr lang="en-US" sz="1500" dirty="0"/>
          </a:p>
        </p:txBody>
      </p:sp>
      <p:sp>
        <p:nvSpPr>
          <p:cNvPr id="12" name="Text 10"/>
          <p:cNvSpPr/>
          <p:nvPr/>
        </p:nvSpPr>
        <p:spPr>
          <a:xfrm>
            <a:off x="8174736" y="4343400"/>
            <a:ext cx="2560320" cy="274320"/>
          </a:xfrm>
          <a:prstGeom prst="rect">
            <a:avLst/>
          </a:prstGeom>
          <a:noFill/>
          <a:ln/>
        </p:spPr>
        <p:txBody>
          <a:bodyPr wrap="square" lIns="0" tIns="0" rIns="0" bIns="0" rtlCol="0" anchor="ctr"/>
          <a:lstStyle/>
          <a:p>
            <a:pPr indent="0" marL="0">
              <a:buNone/>
            </a:pPr>
            <a:r>
              <a:rPr lang="en-US" sz="1000" spc="100" kern="0" dirty="0">
                <a:solidFill>
                  <a:srgbClr val="241E19"/>
                </a:solidFill>
                <a:latin typeface="Karla" pitchFamily="34" charset="0"/>
                <a:ea typeface="Karla" pitchFamily="34" charset="-122"/>
                <a:cs typeface="Karla" pitchFamily="34" charset="-120"/>
              </a:rPr>
              <a:t>— Bride, venue, year</a:t>
            </a:r>
            <a:endParaRPr lang="en-US" sz="1000" dirty="0"/>
          </a:p>
        </p:txBody>
      </p:sp>
      <p:sp>
        <p:nvSpPr>
          <p:cNvPr id="13" name="Text 11"/>
          <p:cNvSpPr/>
          <p:nvPr/>
        </p:nvSpPr>
        <p:spPr>
          <a:xfrm>
            <a:off x="777240" y="5349240"/>
            <a:ext cx="10424160" cy="365760"/>
          </a:xfrm>
          <a:prstGeom prst="rect">
            <a:avLst/>
          </a:prstGeom>
          <a:noFill/>
          <a:ln/>
        </p:spPr>
        <p:txBody>
          <a:bodyPr wrap="square" lIns="0" tIns="0" rIns="0" bIns="0" rtlCol="0" anchor="ctr"/>
          <a:lstStyle/>
          <a:p>
            <a:pPr indent="0" marL="0">
              <a:buNone/>
            </a:pPr>
            <a:r>
              <a:rPr lang="en-US" sz="1200" dirty="0">
                <a:solidFill>
                  <a:srgbClr val="6E4A2C"/>
                </a:solidFill>
                <a:latin typeface="Karla" pitchFamily="34" charset="0"/>
                <a:ea typeface="Karla" pitchFamily="34" charset="-122"/>
                <a:cs typeface="Karla" pitchFamily="34" charset="-120"/>
              </a:rPr>
              <a:t>Choose reviews that praise the morning, not the hairstyle. A planner is listening for reliability.</a:t>
            </a:r>
            <a:endParaRPr lang="en-US" sz="1200" dirty="0"/>
          </a:p>
        </p:txBody>
      </p:sp>
      <p:sp>
        <p:nvSpPr>
          <p:cNvPr id="14" name="Text 12"/>
          <p:cNvSpPr/>
          <p:nvPr/>
        </p:nvSpPr>
        <p:spPr>
          <a:xfrm>
            <a:off x="777240" y="6291072"/>
            <a:ext cx="2743200" cy="228600"/>
          </a:xfrm>
          <a:prstGeom prst="rect">
            <a:avLst/>
          </a:prstGeom>
          <a:noFill/>
          <a:ln/>
        </p:spPr>
        <p:txBody>
          <a:bodyPr wrap="square" lIns="0" tIns="0" rIns="0" bIns="0" rtlCol="0" anchor="ctr"/>
          <a:lstStyle/>
          <a:p>
            <a:pPr indent="0" marL="0">
              <a:buNone/>
            </a:pPr>
            <a:r>
              <a:rPr lang="en-US" sz="900" spc="200" kern="0" dirty="0">
                <a:solidFill>
                  <a:srgbClr val="6E4A2C"/>
                </a:solidFill>
                <a:latin typeface="Karla" pitchFamily="34" charset="0"/>
                <a:ea typeface="Karla" pitchFamily="34" charset="-122"/>
                <a:cs typeface="Karla" pitchFamily="34" charset="-120"/>
              </a:rPr>
              <a:t>Polished &amp; Pinned</a:t>
            </a:r>
            <a:endParaRPr lang="en-US" sz="900" dirty="0"/>
          </a:p>
        </p:txBody>
      </p:sp>
      <p:sp>
        <p:nvSpPr>
          <p:cNvPr id="15" name="Text 13"/>
          <p:cNvSpPr/>
          <p:nvPr/>
        </p:nvSpPr>
        <p:spPr>
          <a:xfrm>
            <a:off x="10469880" y="6291072"/>
            <a:ext cx="914400" cy="228600"/>
          </a:xfrm>
          <a:prstGeom prst="rect">
            <a:avLst/>
          </a:prstGeom>
          <a:noFill/>
          <a:ln/>
        </p:spPr>
        <p:txBody>
          <a:bodyPr wrap="square" lIns="0" tIns="0" rIns="0" bIns="0" rtlCol="0" anchor="ctr"/>
          <a:lstStyle/>
          <a:p>
            <a:pPr algn="r" indent="0" marL="0">
              <a:buNone/>
            </a:pPr>
            <a:r>
              <a:rPr lang="en-US" sz="1100" dirty="0">
                <a:solidFill>
                  <a:srgbClr val="B98B4A"/>
                </a:solidFill>
                <a:latin typeface="Instrument Serif" pitchFamily="34" charset="0"/>
                <a:ea typeface="Instrument Serif" pitchFamily="34" charset="-122"/>
                <a:cs typeface="Instrument Serif"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1E19"/>
        </a:solidFill>
      </p:bgPr>
    </p:bg>
    <p:spTree>
      <p:nvGrpSpPr>
        <p:cNvPr id="1" name=""/>
        <p:cNvGrpSpPr/>
        <p:nvPr/>
      </p:nvGrpSpPr>
      <p:grpSpPr>
        <a:xfrm>
          <a:off x="0" y="0"/>
          <a:ext cx="0" cy="0"/>
          <a:chOff x="0" y="0"/>
          <a:chExt cx="0" cy="0"/>
        </a:xfrm>
      </p:grpSpPr>
      <p:pic>
        <p:nvPicPr>
          <p:cNvPr id="2" name="Image 0" descr="assets/pin-brass.png">    </p:cNvPr>
          <p:cNvPicPr>
            <a:picLocks noChangeAspect="1"/>
          </p:cNvPicPr>
          <p:nvPr/>
        </p:nvPicPr>
        <p:blipFill>
          <a:blip r:embed="rId1"/>
          <a:stretch>
            <a:fillRect/>
          </a:stretch>
        </p:blipFill>
        <p:spPr>
          <a:xfrm>
            <a:off x="777240" y="1051560"/>
            <a:ext cx="699516" cy="1371600"/>
          </a:xfrm>
          <a:prstGeom prst="rect">
            <a:avLst/>
          </a:prstGeom>
        </p:spPr>
      </p:pic>
      <p:sp>
        <p:nvSpPr>
          <p:cNvPr id="3" name="Text 0"/>
          <p:cNvSpPr/>
          <p:nvPr/>
        </p:nvSpPr>
        <p:spPr>
          <a:xfrm>
            <a:off x="777240" y="2651760"/>
            <a:ext cx="7772400" cy="1737360"/>
          </a:xfrm>
          <a:prstGeom prst="rect">
            <a:avLst/>
          </a:prstGeom>
          <a:noFill/>
          <a:ln/>
        </p:spPr>
        <p:txBody>
          <a:bodyPr wrap="square" lIns="0" tIns="0" rIns="0" bIns="0" rtlCol="0" anchor="ctr"/>
          <a:lstStyle/>
          <a:p>
            <a:pPr indent="0" marL="0">
              <a:lnSpc>
                <a:spcPts val="5400"/>
              </a:lnSpc>
              <a:buNone/>
            </a:pPr>
            <a:r>
              <a:rPr lang="en-US" sz="4600" dirty="0">
                <a:solidFill>
                  <a:srgbClr val="EFEDE7"/>
                </a:solidFill>
                <a:latin typeface="Instrument Serif" pitchFamily="34" charset="0"/>
                <a:ea typeface="Instrument Serif" pitchFamily="34" charset="-122"/>
                <a:cs typeface="Instrument Serif" pitchFamily="34" charset="-120"/>
              </a:rPr>
              <a:t>We're there before</a:t>
            </a:r>
            <a:endParaRPr lang="en-US" sz="4600" dirty="0"/>
          </a:p>
          <a:p>
            <a:pPr indent="0" marL="0">
              <a:lnSpc>
                <a:spcPts val="5400"/>
              </a:lnSpc>
              <a:buNone/>
            </a:pPr>
            <a:r>
              <a:rPr lang="en-US" sz="4600" dirty="0">
                <a:solidFill>
                  <a:srgbClr val="EFEDE7"/>
                </a:solidFill>
                <a:latin typeface="Instrument Serif" pitchFamily="34" charset="0"/>
                <a:ea typeface="Instrument Serif" pitchFamily="34" charset="-122"/>
                <a:cs typeface="Instrument Serif" pitchFamily="34" charset="-120"/>
              </a:rPr>
              <a:t>anyone else is.</a:t>
            </a:r>
            <a:endParaRPr lang="en-US" sz="4600" dirty="0"/>
          </a:p>
        </p:txBody>
      </p:sp>
      <p:sp>
        <p:nvSpPr>
          <p:cNvPr id="4" name="Shape 1"/>
          <p:cNvSpPr/>
          <p:nvPr/>
        </p:nvSpPr>
        <p:spPr>
          <a:xfrm>
            <a:off x="777240" y="4572000"/>
            <a:ext cx="3840480" cy="0"/>
          </a:xfrm>
          <a:prstGeom prst="line">
            <a:avLst/>
          </a:prstGeom>
          <a:noFill/>
          <a:ln w="12700">
            <a:solidFill>
              <a:srgbClr val="B98B4A"/>
            </a:solidFill>
            <a:prstDash val="solid"/>
          </a:ln>
        </p:spPr>
      </p:sp>
      <p:sp>
        <p:nvSpPr>
          <p:cNvPr id="5" name="Text 2"/>
          <p:cNvSpPr/>
          <p:nvPr/>
        </p:nvSpPr>
        <p:spPr>
          <a:xfrm>
            <a:off x="777240" y="4846320"/>
            <a:ext cx="5486400" cy="320040"/>
          </a:xfrm>
          <a:prstGeom prst="rect">
            <a:avLst/>
          </a:prstGeom>
          <a:noFill/>
          <a:ln/>
        </p:spPr>
        <p:txBody>
          <a:bodyPr wrap="square" lIns="0" tIns="0" rIns="0" bIns="0" rtlCol="0" anchor="ctr"/>
          <a:lstStyle/>
          <a:p>
            <a:pPr indent="0" marL="0">
              <a:buNone/>
            </a:pPr>
            <a:r>
              <a:rPr lang="en-US" sz="2000" dirty="0">
                <a:solidFill>
                  <a:srgbClr val="B98B4A"/>
                </a:solidFill>
                <a:latin typeface="Instrument Serif" pitchFamily="34" charset="0"/>
                <a:ea typeface="Instrument Serif" pitchFamily="34" charset="-122"/>
                <a:cs typeface="Instrument Serif" pitchFamily="34" charset="-120"/>
              </a:rPr>
              <a:t>Noelle — Polished &amp; Pinned</a:t>
            </a:r>
            <a:endParaRPr lang="en-US" sz="2000" dirty="0"/>
          </a:p>
        </p:txBody>
      </p:sp>
      <p:sp>
        <p:nvSpPr>
          <p:cNvPr id="6" name="Text 3"/>
          <p:cNvSpPr/>
          <p:nvPr/>
        </p:nvSpPr>
        <p:spPr>
          <a:xfrm>
            <a:off x="777240" y="5303520"/>
            <a:ext cx="8229600" cy="274320"/>
          </a:xfrm>
          <a:prstGeom prst="rect">
            <a:avLst/>
          </a:prstGeom>
          <a:noFill/>
          <a:ln/>
        </p:spPr>
        <p:txBody>
          <a:bodyPr wrap="square" lIns="0" tIns="0" rIns="0" bIns="0" rtlCol="0" anchor="ctr"/>
          <a:lstStyle/>
          <a:p>
            <a:pPr indent="0" marL="0">
              <a:buNone/>
            </a:pPr>
            <a:r>
              <a:rPr lang="en-US" sz="1150" spc="100" kern="0" dirty="0">
                <a:solidFill>
                  <a:srgbClr val="DEDAD1"/>
                </a:solidFill>
                <a:latin typeface="Karla" pitchFamily="34" charset="0"/>
                <a:ea typeface="Karla" pitchFamily="34" charset="-122"/>
                <a:cs typeface="Karla" pitchFamily="34" charset="-120"/>
              </a:rPr>
              <a:t>hello@polishedandpinned.ca   ·   @polishedandpinnedbridal   ·   polishedandpinned.ca</a:t>
            </a:r>
            <a:endParaRPr lang="en-US" sz="1150" dirty="0"/>
          </a:p>
        </p:txBody>
      </p:sp>
      <p:sp>
        <p:nvSpPr>
          <p:cNvPr id="7" name="Text 4"/>
          <p:cNvSpPr/>
          <p:nvPr/>
        </p:nvSpPr>
        <p:spPr>
          <a:xfrm>
            <a:off x="777240" y="5806440"/>
            <a:ext cx="8229600" cy="320040"/>
          </a:xfrm>
          <a:prstGeom prst="rect">
            <a:avLst/>
          </a:prstGeom>
          <a:noFill/>
          <a:ln/>
        </p:spPr>
        <p:txBody>
          <a:bodyPr wrap="square" lIns="0" tIns="0" rIns="0" bIns="0" rtlCol="0" anchor="ctr"/>
          <a:lstStyle/>
          <a:p>
            <a:pPr indent="0" marL="0">
              <a:buNone/>
            </a:pPr>
            <a:r>
              <a:rPr lang="en-US" sz="1150" dirty="0">
                <a:solidFill>
                  <a:srgbClr val="9DA391"/>
                </a:solidFill>
                <a:latin typeface="Karla" pitchFamily="34" charset="0"/>
                <a:ea typeface="Karla" pitchFamily="34" charset="-122"/>
                <a:cs typeface="Karla" pitchFamily="34" charset="-120"/>
              </a:rPr>
              <a:t>Happy to walk a venue, meet the team, or be on standby for a date you're holding.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Polished &amp; Pinned — Partner Deck</dc:title>
  <dc:subject>PptxGenJS Presentation</dc:subject>
  <dc:creator>Polished &amp; Pinned</dc:creator>
  <cp:lastModifiedBy>Polished &amp; Pinned</cp:lastModifiedBy>
  <cp:revision>1</cp:revision>
  <dcterms:created xsi:type="dcterms:W3CDTF">2026-08-02T22:42:44Z</dcterms:created>
  <dcterms:modified xsi:type="dcterms:W3CDTF">2026-08-02T22:42:44Z</dcterms:modified>
</cp:coreProperties>
</file>